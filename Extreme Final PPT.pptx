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Libre Franklin"/>
      <p:regular r:id="rId10"/>
      <p:bold r:id="rId11"/>
      <p:italic r:id="rId12"/>
      <p:boldItalic r:id="rId13"/>
    </p:embeddedFont>
    <p:embeddedFont>
      <p:font typeface="Roboto"/>
      <p:regular r:id="rId14"/>
      <p:bold r:id="rId15"/>
      <p:italic r:id="rId16"/>
      <p:boldItalic r:id="rId17"/>
    </p:embeddedFont>
    <p:embeddedFont>
      <p:font typeface="Franklin Gothic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FBCB35-2A30-4036-91C7-093D4C9EC0A4}">
  <a:tblStyle styleId="{9FFBCB35-2A30-4036-91C7-093D4C9EC0A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breFranklin-bold.fntdata"/><Relationship Id="rId10" Type="http://schemas.openxmlformats.org/officeDocument/2006/relationships/font" Target="fonts/LibreFranklin-regular.fntdata"/><Relationship Id="rId13" Type="http://schemas.openxmlformats.org/officeDocument/2006/relationships/font" Target="fonts/LibreFranklin-boldItalic.fntdata"/><Relationship Id="rId12" Type="http://schemas.openxmlformats.org/officeDocument/2006/relationships/font" Target="fonts/LibreFranklin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Franklin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453a54f5c4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453a54f5c4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2453a54f5c4_1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453a54f5c4_1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453a54f5c4_1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2453a54f5c4_1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453a54f5c4_1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453a54f5c4_1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2453a54f5c4_1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53a54f5c4_1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453a54f5c4_1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2453a54f5c4_1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" name="Google Shape;17;p2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2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2"/>
          <p:cNvSpPr txBox="1"/>
          <p:nvPr>
            <p:ph idx="1" type="body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" name="Google Shape;22;p2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3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3"/>
          <p:cNvSpPr/>
          <p:nvPr>
            <p:ph idx="2" type="pic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0" name="Google Shape;30;p3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" name="Google Shape;31;p3"/>
          <p:cNvSpPr txBox="1"/>
          <p:nvPr>
            <p:ph idx="1" type="body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">
  <p:cSld name="Summary 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7" name="Google Shape;37;p4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9" name="Google Shape;39;p4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4"/>
          <p:cNvSpPr txBox="1"/>
          <p:nvPr>
            <p:ph idx="2" type="body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3" type="body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4" type="body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5" type="body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6" type="body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7" type="body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8" type="body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9" type="body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3" type="body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5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5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" name="Google Shape;63;p5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5"/>
          <p:cNvSpPr txBox="1"/>
          <p:nvPr>
            <p:ph idx="1" type="body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2" type="body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6" name="Google Shape;66;p5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5"/>
          <p:cNvSpPr txBox="1"/>
          <p:nvPr>
            <p:ph idx="3" type="body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4" type="body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9" name="Google Shape;69;p5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5"/>
          <p:cNvSpPr txBox="1"/>
          <p:nvPr>
            <p:ph idx="5" type="body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6" type="body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2" name="Google Shape;72;p5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5"/>
          <p:cNvSpPr txBox="1"/>
          <p:nvPr>
            <p:ph idx="7" type="body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idx="8" type="body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5" name="Google Shape;75;p5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" name="Google Shape;76;p5"/>
          <p:cNvSpPr txBox="1"/>
          <p:nvPr>
            <p:ph idx="9" type="body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idx="13" type="body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">
  <p:cSld name="Break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>
            <p:ph idx="2" type="pic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b="1" i="0" sz="41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4" name="Google Shape;84;p6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5" name="Google Shape;85;p6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6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6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>
            <p:ph idx="2" type="chart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8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b="0" i="0" sz="2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1" i="0" lang="en-US" sz="20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9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9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9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9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0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0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0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0"/>
          <p:cNvSpPr/>
          <p:nvPr>
            <p:ph idx="2" type="pic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0"/>
          <p:cNvSpPr txBox="1"/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0" name="Google Shape;120;p10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cap="flat" cmpd="sng" w="1016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10"/>
          <p:cNvSpPr/>
          <p:nvPr>
            <p:ph idx="3" type="pic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/>
          <p:nvPr>
            <p:ph idx="1" type="body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0"/>
          <p:cNvSpPr txBox="1"/>
          <p:nvPr>
            <p:ph idx="4" type="body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0"/>
          <p:cNvSpPr txBox="1"/>
          <p:nvPr>
            <p:ph idx="5" type="body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0"/>
          <p:cNvSpPr txBox="1"/>
          <p:nvPr>
            <p:ph idx="6" type="body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0"/>
          <p:cNvSpPr txBox="1"/>
          <p:nvPr>
            <p:ph idx="7" type="body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0"/>
          <p:cNvSpPr txBox="1"/>
          <p:nvPr>
            <p:ph idx="8" type="body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0"/>
          <p:cNvSpPr txBox="1"/>
          <p:nvPr>
            <p:ph idx="9" type="body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0"/>
          <p:cNvSpPr txBox="1"/>
          <p:nvPr>
            <p:ph idx="13" type="body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0" name="Google Shape;130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0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0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0"/>
          <p:cNvSpPr/>
          <p:nvPr>
            <p:ph idx="14" type="pic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0"/>
          <p:cNvSpPr/>
          <p:nvPr>
            <p:ph idx="15" type="pic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0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">
  <p:cSld name="Timeline 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1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11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11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11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11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1"/>
          <p:cNvSpPr txBox="1"/>
          <p:nvPr>
            <p:ph idx="2" type="body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1"/>
          <p:cNvSpPr txBox="1"/>
          <p:nvPr>
            <p:ph idx="3" type="body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1"/>
          <p:cNvSpPr txBox="1"/>
          <p:nvPr>
            <p:ph idx="4" type="body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1"/>
          <p:cNvSpPr txBox="1"/>
          <p:nvPr>
            <p:ph idx="5" type="body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11"/>
          <p:cNvSpPr txBox="1"/>
          <p:nvPr>
            <p:ph idx="6" type="body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1"/>
          <p:cNvSpPr txBox="1"/>
          <p:nvPr>
            <p:ph idx="7" type="body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1"/>
          <p:cNvSpPr txBox="1"/>
          <p:nvPr>
            <p:ph idx="8" type="body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5" name="Google Shape;155;p11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cap="flat" cmpd="sng" w="1651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11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1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1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">
  <p:cSld name="2 Col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2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2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2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2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2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9" name="Google Shape;169;p12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12"/>
          <p:cNvSpPr txBox="1"/>
          <p:nvPr>
            <p:ph idx="3" type="body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2"/>
          <p:cNvSpPr txBox="1"/>
          <p:nvPr>
            <p:ph idx="4" type="body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74" name="Google Shape;174;p12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12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">
  <p:cSld name="3 col"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3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3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3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4" name="Google Shape;184;p13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13"/>
          <p:cNvSpPr txBox="1"/>
          <p:nvPr>
            <p:ph idx="1" type="body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p13"/>
          <p:cNvSpPr txBox="1"/>
          <p:nvPr>
            <p:ph idx="2" type="body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3"/>
          <p:cNvSpPr txBox="1"/>
          <p:nvPr>
            <p:ph idx="3" type="body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p13"/>
          <p:cNvSpPr txBox="1"/>
          <p:nvPr>
            <p:ph idx="4" type="body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13"/>
          <p:cNvSpPr txBox="1"/>
          <p:nvPr>
            <p:ph idx="5" type="body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0" name="Google Shape;190;p13"/>
          <p:cNvSpPr txBox="1"/>
          <p:nvPr>
            <p:ph idx="6" type="body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1" name="Google Shape;191;p13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13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13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3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3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idx="1" type="body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 sz="16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14"/>
          <p:cNvSpPr txBox="1"/>
          <p:nvPr>
            <p:ph idx="2" type="subTitle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9" name="Google Shape;199;p14"/>
          <p:cNvSpPr txBox="1"/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0" name="Google Shape;200;p14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14"/>
          <p:cNvSpPr/>
          <p:nvPr>
            <p:ph idx="3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4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08" name="Google Shape;208;p1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09" name="Google Shape;209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9" Type="http://schemas.openxmlformats.org/officeDocument/2006/relationships/image" Target="../media/image17.jpg"/><Relationship Id="rId5" Type="http://schemas.openxmlformats.org/officeDocument/2006/relationships/image" Target="../media/image19.jpg"/><Relationship Id="rId6" Type="http://schemas.openxmlformats.org/officeDocument/2006/relationships/image" Target="../media/image16.jpg"/><Relationship Id="rId7" Type="http://schemas.openxmlformats.org/officeDocument/2006/relationships/image" Target="../media/image18.jpg"/><Relationship Id="rId8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4750" y="1510550"/>
            <a:ext cx="5784849" cy="5195050"/>
          </a:xfrm>
          <a:prstGeom prst="rect">
            <a:avLst/>
          </a:prstGeom>
          <a:noFill/>
          <a:ln cap="flat" cmpd="sng" w="28575">
            <a:solidFill>
              <a:srgbClr val="1DD6D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6" name="Google Shape;21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76650"/>
            <a:ext cx="59372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2000" cy="13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9213" y="1510550"/>
            <a:ext cx="3208963" cy="161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5975" y="461975"/>
            <a:ext cx="108775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65850" y="1568450"/>
            <a:ext cx="5937249" cy="507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7"/>
          <p:cNvPicPr preferRelativeResize="0"/>
          <p:nvPr/>
        </p:nvPicPr>
        <p:blipFill rotWithShape="1">
          <a:blip r:embed="rId3">
            <a:alphaModFix/>
          </a:blip>
          <a:srcRect b="65394" l="0" r="0" t="0"/>
          <a:stretch/>
        </p:blipFill>
        <p:spPr>
          <a:xfrm>
            <a:off x="0" y="0"/>
            <a:ext cx="12192000" cy="90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7"/>
          <p:cNvPicPr preferRelativeResize="0"/>
          <p:nvPr/>
        </p:nvPicPr>
        <p:blipFill rotWithShape="1">
          <a:blip r:embed="rId4">
            <a:alphaModFix/>
          </a:blip>
          <a:srcRect b="2537" l="27994" r="31239" t="19135"/>
          <a:stretch/>
        </p:blipFill>
        <p:spPr>
          <a:xfrm>
            <a:off x="6709850" y="864675"/>
            <a:ext cx="5178102" cy="5832525"/>
          </a:xfrm>
          <a:prstGeom prst="rect">
            <a:avLst/>
          </a:prstGeom>
          <a:noFill/>
          <a:ln cap="flat" cmpd="sng" w="28575">
            <a:solidFill>
              <a:srgbClr val="1DD6D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8" name="Google Shape;22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650" y="864675"/>
            <a:ext cx="6140401" cy="2950675"/>
          </a:xfrm>
          <a:prstGeom prst="rect">
            <a:avLst/>
          </a:prstGeom>
          <a:noFill/>
          <a:ln cap="flat" cmpd="sng" w="28575">
            <a:solidFill>
              <a:srgbClr val="1DD6D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9" name="Google Shape;22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650" y="3951975"/>
            <a:ext cx="6140401" cy="2734800"/>
          </a:xfrm>
          <a:prstGeom prst="rect">
            <a:avLst/>
          </a:prstGeom>
          <a:noFill/>
          <a:ln cap="flat" cmpd="sng" w="28575">
            <a:solidFill>
              <a:srgbClr val="1DD6D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0" name="Google Shape;230;p17"/>
          <p:cNvSpPr txBox="1"/>
          <p:nvPr/>
        </p:nvSpPr>
        <p:spPr>
          <a:xfrm>
            <a:off x="8596188" y="902075"/>
            <a:ext cx="13242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FLOWCHART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31" name="Google Shape;23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125" y="887313"/>
            <a:ext cx="6254751" cy="3068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9300" y="3854925"/>
            <a:ext cx="6140400" cy="2852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0200" y="1397250"/>
            <a:ext cx="5739476" cy="4891579"/>
          </a:xfrm>
          <a:prstGeom prst="rect">
            <a:avLst/>
          </a:prstGeom>
          <a:noFill/>
          <a:ln cap="flat" cmpd="sng" w="28575">
            <a:solidFill>
              <a:srgbClr val="1DD6D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25" y="1422525"/>
            <a:ext cx="5557925" cy="4916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0" name="Google Shape;240;p18"/>
          <p:cNvGraphicFramePr/>
          <p:nvPr/>
        </p:nvGraphicFramePr>
        <p:xfrm>
          <a:off x="290213" y="1422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{9FFBCB35-2A30-4036-91C7-093D4C9EC0A4}</a:tableStyleId>
              </a:tblPr>
              <a:tblGrid>
                <a:gridCol w="637525"/>
                <a:gridCol w="1598450"/>
                <a:gridCol w="3321950"/>
              </a:tblGrid>
              <a:tr h="80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 NO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FIELDS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APPLICATION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99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Crowd Management</a:t>
                      </a:r>
                      <a:endParaRPr b="1" u="none" cap="none" strike="noStrike">
                        <a:solidFill>
                          <a:srgbClr val="99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C78D8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Ability to detect and analyze crowd size in real-time at the ticket counter area and platform areas, distinguishing between regular crowds and accidental gatherings, and send alerts to staff or supervisors as needed.</a:t>
                      </a:r>
                      <a:endParaRPr b="1">
                        <a:solidFill>
                          <a:srgbClr val="3C78D8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99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Crime Prevention</a:t>
                      </a:r>
                      <a:endParaRPr b="1" u="none" cap="none" strike="noStrike">
                        <a:solidFill>
                          <a:srgbClr val="99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3C78D8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deter activities like shooting, fights, etc, thereby enhancing safety and security.</a:t>
                      </a:r>
                      <a:endParaRPr b="1" u="none" cap="none" strike="noStrike">
                        <a:solidFill>
                          <a:srgbClr val="3C78D8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99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Work Monitoring</a:t>
                      </a:r>
                      <a:endParaRPr b="1" u="none" cap="none" strike="noStrike">
                        <a:solidFill>
                          <a:srgbClr val="99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3C78D8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detect real-time video surveillance to  ensure cleanliness  on platform is maintained regularly.</a:t>
                      </a:r>
                      <a:endParaRPr b="1" u="none" cap="none" strike="noStrike">
                        <a:solidFill>
                          <a:srgbClr val="3C78D8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DD6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41" name="Google Shape;241;p18"/>
          <p:cNvPicPr preferRelativeResize="0"/>
          <p:nvPr/>
        </p:nvPicPr>
        <p:blipFill rotWithShape="1">
          <a:blip r:embed="rId4">
            <a:alphaModFix/>
          </a:blip>
          <a:srcRect b="65394" l="0" r="0" t="0"/>
          <a:stretch/>
        </p:blipFill>
        <p:spPr>
          <a:xfrm>
            <a:off x="0" y="0"/>
            <a:ext cx="12192000" cy="100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8"/>
          <p:cNvPicPr preferRelativeResize="0"/>
          <p:nvPr/>
        </p:nvPicPr>
        <p:blipFill rotWithShape="1">
          <a:blip r:embed="rId5">
            <a:alphaModFix/>
          </a:blip>
          <a:srcRect b="-8440" l="-3720" r="3719" t="8440"/>
          <a:stretch/>
        </p:blipFill>
        <p:spPr>
          <a:xfrm>
            <a:off x="652750" y="723750"/>
            <a:ext cx="2807550" cy="7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8400" y="1490675"/>
            <a:ext cx="5824600" cy="474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9"/>
          <p:cNvPicPr preferRelativeResize="0"/>
          <p:nvPr/>
        </p:nvPicPr>
        <p:blipFill rotWithShape="1">
          <a:blip r:embed="rId3">
            <a:alphaModFix/>
          </a:blip>
          <a:srcRect b="65394" l="0" r="0" t="0"/>
          <a:stretch/>
        </p:blipFill>
        <p:spPr>
          <a:xfrm>
            <a:off x="0" y="0"/>
            <a:ext cx="12192000" cy="1005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19"/>
          <p:cNvCxnSpPr/>
          <p:nvPr/>
        </p:nvCxnSpPr>
        <p:spPr>
          <a:xfrm rot="10800000">
            <a:off x="10521339" y="3050385"/>
            <a:ext cx="0" cy="650400"/>
          </a:xfrm>
          <a:prstGeom prst="straightConnector1">
            <a:avLst/>
          </a:prstGeom>
          <a:noFill/>
          <a:ln cap="flat" cmpd="sng" w="63500">
            <a:solidFill>
              <a:srgbClr val="4815A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1" name="Google Shape;251;p19"/>
          <p:cNvCxnSpPr/>
          <p:nvPr/>
        </p:nvCxnSpPr>
        <p:spPr>
          <a:xfrm rot="10800000">
            <a:off x="1245801" y="2936038"/>
            <a:ext cx="0" cy="650400"/>
          </a:xfrm>
          <a:prstGeom prst="straightConnector1">
            <a:avLst/>
          </a:prstGeom>
          <a:noFill/>
          <a:ln cap="flat" cmpd="sng" w="63500">
            <a:solidFill>
              <a:srgbClr val="FD137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2" name="Google Shape;252;p19"/>
          <p:cNvCxnSpPr/>
          <p:nvPr/>
        </p:nvCxnSpPr>
        <p:spPr>
          <a:xfrm rot="10800000">
            <a:off x="2629116" y="3644799"/>
            <a:ext cx="0" cy="650400"/>
          </a:xfrm>
          <a:prstGeom prst="straightConnector1">
            <a:avLst/>
          </a:prstGeom>
          <a:noFill/>
          <a:ln cap="flat" cmpd="sng" w="63500">
            <a:solidFill>
              <a:srgbClr val="FFA73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3" name="Google Shape;253;p19"/>
          <p:cNvCxnSpPr/>
          <p:nvPr/>
        </p:nvCxnSpPr>
        <p:spPr>
          <a:xfrm rot="10800000">
            <a:off x="5687274" y="3553304"/>
            <a:ext cx="0" cy="650400"/>
          </a:xfrm>
          <a:prstGeom prst="straightConnector1">
            <a:avLst/>
          </a:prstGeom>
          <a:noFill/>
          <a:ln cap="flat" cmpd="sng" w="63500">
            <a:solidFill>
              <a:srgbClr val="296FE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4" name="Google Shape;254;p19"/>
          <p:cNvCxnSpPr/>
          <p:nvPr/>
        </p:nvCxnSpPr>
        <p:spPr>
          <a:xfrm rot="10800000">
            <a:off x="8946743" y="3553304"/>
            <a:ext cx="0" cy="650400"/>
          </a:xfrm>
          <a:prstGeom prst="straightConnector1">
            <a:avLst/>
          </a:prstGeom>
          <a:noFill/>
          <a:ln cap="flat" cmpd="sng" w="63500">
            <a:solidFill>
              <a:srgbClr val="4815A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5" name="Google Shape;255;p19"/>
          <p:cNvCxnSpPr/>
          <p:nvPr/>
        </p:nvCxnSpPr>
        <p:spPr>
          <a:xfrm rot="10800000">
            <a:off x="4218723" y="3233395"/>
            <a:ext cx="0" cy="650400"/>
          </a:xfrm>
          <a:prstGeom prst="straightConnector1">
            <a:avLst/>
          </a:prstGeom>
          <a:noFill/>
          <a:ln cap="flat" cmpd="sng" w="63500">
            <a:solidFill>
              <a:srgbClr val="C27BA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6" name="Google Shape;256;p19"/>
          <p:cNvCxnSpPr/>
          <p:nvPr/>
        </p:nvCxnSpPr>
        <p:spPr>
          <a:xfrm rot="10800000">
            <a:off x="7382676" y="3233395"/>
            <a:ext cx="0" cy="650400"/>
          </a:xfrm>
          <a:prstGeom prst="straightConnector1">
            <a:avLst/>
          </a:prstGeom>
          <a:noFill/>
          <a:ln cap="flat" cmpd="sng" w="63500">
            <a:solidFill>
              <a:srgbClr val="1549BD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202262" y="3440625"/>
            <a:ext cx="11401800" cy="5799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9695037" y="3440513"/>
            <a:ext cx="1910555" cy="581170"/>
          </a:xfrm>
          <a:custGeom>
            <a:rect b="b" l="l" r="r" t="t"/>
            <a:pathLst>
              <a:path extrusionOk="0" h="696012" w="2122839">
                <a:moveTo>
                  <a:pt x="1776707" y="675092"/>
                </a:moveTo>
                <a:lnTo>
                  <a:pt x="23798" y="675092"/>
                </a:lnTo>
                <a:lnTo>
                  <a:pt x="240432" y="349532"/>
                </a:lnTo>
                <a:lnTo>
                  <a:pt x="23798" y="23798"/>
                </a:lnTo>
                <a:lnTo>
                  <a:pt x="1776707" y="23798"/>
                </a:lnTo>
                <a:cubicBezTo>
                  <a:pt x="1956626" y="23798"/>
                  <a:pt x="2102267" y="169612"/>
                  <a:pt x="2102267" y="349358"/>
                </a:cubicBezTo>
                <a:lnTo>
                  <a:pt x="2102267" y="349358"/>
                </a:lnTo>
                <a:cubicBezTo>
                  <a:pt x="2102441" y="529277"/>
                  <a:pt x="1956626" y="675092"/>
                  <a:pt x="1776707" y="675092"/>
                </a:cubicBezTo>
                <a:close/>
              </a:path>
            </a:pathLst>
          </a:custGeom>
          <a:solidFill>
            <a:srgbClr val="4815A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Mentor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8149866" y="3440512"/>
            <a:ext cx="1910555" cy="581170"/>
          </a:xfrm>
          <a:custGeom>
            <a:rect b="b" l="l" r="r" t="t"/>
            <a:pathLst>
              <a:path extrusionOk="0" h="696012" w="2122839">
                <a:moveTo>
                  <a:pt x="1776707" y="675092"/>
                </a:moveTo>
                <a:lnTo>
                  <a:pt x="23798" y="675092"/>
                </a:lnTo>
                <a:lnTo>
                  <a:pt x="240432" y="349532"/>
                </a:lnTo>
                <a:lnTo>
                  <a:pt x="23798" y="23798"/>
                </a:lnTo>
                <a:lnTo>
                  <a:pt x="1776707" y="23798"/>
                </a:lnTo>
                <a:cubicBezTo>
                  <a:pt x="1956626" y="23798"/>
                  <a:pt x="2102267" y="169612"/>
                  <a:pt x="2102267" y="349358"/>
                </a:cubicBezTo>
                <a:lnTo>
                  <a:pt x="2102267" y="349358"/>
                </a:lnTo>
                <a:cubicBezTo>
                  <a:pt x="2102441" y="529277"/>
                  <a:pt x="1956626" y="675092"/>
                  <a:pt x="1776707" y="675092"/>
                </a:cubicBezTo>
                <a:close/>
              </a:path>
            </a:pathLst>
          </a:custGeom>
          <a:solidFill>
            <a:srgbClr val="1549B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</a:rPr>
              <a:t> 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6464242" y="3439642"/>
            <a:ext cx="2037925" cy="581170"/>
          </a:xfrm>
          <a:custGeom>
            <a:rect b="b" l="l" r="r" t="t"/>
            <a:pathLst>
              <a:path extrusionOk="0" h="696012" w="2122839">
                <a:moveTo>
                  <a:pt x="1776707" y="675092"/>
                </a:moveTo>
                <a:lnTo>
                  <a:pt x="23798" y="675092"/>
                </a:lnTo>
                <a:lnTo>
                  <a:pt x="240432" y="349532"/>
                </a:lnTo>
                <a:lnTo>
                  <a:pt x="23798" y="23798"/>
                </a:lnTo>
                <a:lnTo>
                  <a:pt x="1776707" y="23798"/>
                </a:lnTo>
                <a:cubicBezTo>
                  <a:pt x="1956626" y="23798"/>
                  <a:pt x="2102267" y="169612"/>
                  <a:pt x="2102267" y="349358"/>
                </a:cubicBezTo>
                <a:lnTo>
                  <a:pt x="2102267" y="349358"/>
                </a:lnTo>
                <a:cubicBezTo>
                  <a:pt x="2102441" y="529277"/>
                  <a:pt x="1956626" y="675092"/>
                  <a:pt x="1776707" y="675092"/>
                </a:cubicBezTo>
                <a:close/>
              </a:path>
            </a:pathLst>
          </a:custGeom>
          <a:solidFill>
            <a:srgbClr val="296F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918612" y="3433466"/>
            <a:ext cx="1968933" cy="581170"/>
          </a:xfrm>
          <a:custGeom>
            <a:rect b="b" l="l" r="r" t="t"/>
            <a:pathLst>
              <a:path extrusionOk="0" h="696012" w="2122839">
                <a:moveTo>
                  <a:pt x="1776707" y="675092"/>
                </a:moveTo>
                <a:lnTo>
                  <a:pt x="23798" y="675092"/>
                </a:lnTo>
                <a:lnTo>
                  <a:pt x="240432" y="349532"/>
                </a:lnTo>
                <a:lnTo>
                  <a:pt x="23798" y="23798"/>
                </a:lnTo>
                <a:lnTo>
                  <a:pt x="1776707" y="23798"/>
                </a:lnTo>
                <a:cubicBezTo>
                  <a:pt x="1956626" y="23798"/>
                  <a:pt x="2102267" y="169612"/>
                  <a:pt x="2102267" y="349358"/>
                </a:cubicBezTo>
                <a:lnTo>
                  <a:pt x="2102267" y="349358"/>
                </a:lnTo>
                <a:cubicBezTo>
                  <a:pt x="2102441" y="529277"/>
                  <a:pt x="1956626" y="675092"/>
                  <a:pt x="1776707" y="675092"/>
                </a:cubicBezTo>
                <a:close/>
              </a:path>
            </a:pathLst>
          </a:custGeom>
          <a:solidFill>
            <a:srgbClr val="6FA8D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3303203" y="3440512"/>
            <a:ext cx="1968933" cy="581170"/>
          </a:xfrm>
          <a:custGeom>
            <a:rect b="b" l="l" r="r" t="t"/>
            <a:pathLst>
              <a:path extrusionOk="0" h="696012" w="2122839">
                <a:moveTo>
                  <a:pt x="1776707" y="675092"/>
                </a:moveTo>
                <a:lnTo>
                  <a:pt x="23798" y="675092"/>
                </a:lnTo>
                <a:lnTo>
                  <a:pt x="240432" y="349532"/>
                </a:lnTo>
                <a:lnTo>
                  <a:pt x="23798" y="23798"/>
                </a:lnTo>
                <a:lnTo>
                  <a:pt x="1776707" y="23798"/>
                </a:lnTo>
                <a:cubicBezTo>
                  <a:pt x="1956626" y="23798"/>
                  <a:pt x="2102267" y="169612"/>
                  <a:pt x="2102267" y="349358"/>
                </a:cubicBezTo>
                <a:lnTo>
                  <a:pt x="2102267" y="349358"/>
                </a:lnTo>
                <a:cubicBezTo>
                  <a:pt x="2102441" y="529277"/>
                  <a:pt x="1956626" y="675092"/>
                  <a:pt x="1776707" y="675092"/>
                </a:cubicBezTo>
                <a:close/>
              </a:path>
            </a:pathLst>
          </a:custGeom>
          <a:solidFill>
            <a:srgbClr val="C27BA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1601795" y="3421381"/>
            <a:ext cx="1968933" cy="617711"/>
          </a:xfrm>
          <a:custGeom>
            <a:rect b="b" l="l" r="r" t="t"/>
            <a:pathLst>
              <a:path extrusionOk="0" h="696012" w="2122839">
                <a:moveTo>
                  <a:pt x="1776707" y="675092"/>
                </a:moveTo>
                <a:lnTo>
                  <a:pt x="23798" y="675092"/>
                </a:lnTo>
                <a:lnTo>
                  <a:pt x="240432" y="349532"/>
                </a:lnTo>
                <a:lnTo>
                  <a:pt x="23798" y="23798"/>
                </a:lnTo>
                <a:lnTo>
                  <a:pt x="1776707" y="23798"/>
                </a:lnTo>
                <a:cubicBezTo>
                  <a:pt x="1956626" y="23798"/>
                  <a:pt x="2102267" y="169612"/>
                  <a:pt x="2102267" y="349358"/>
                </a:cubicBezTo>
                <a:lnTo>
                  <a:pt x="2102267" y="349358"/>
                </a:lnTo>
                <a:cubicBezTo>
                  <a:pt x="2102441" y="529277"/>
                  <a:pt x="1956626" y="675092"/>
                  <a:pt x="1776707" y="675092"/>
                </a:cubicBezTo>
                <a:close/>
              </a:path>
            </a:pathLst>
          </a:custGeom>
          <a:solidFill>
            <a:srgbClr val="FFA7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</a:rPr>
              <a:t> 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02050" y="3421691"/>
            <a:ext cx="1910555" cy="617711"/>
          </a:xfrm>
          <a:custGeom>
            <a:rect b="b" l="l" r="r" t="t"/>
            <a:pathLst>
              <a:path extrusionOk="0" h="696012" w="2122839">
                <a:moveTo>
                  <a:pt x="1776707" y="675092"/>
                </a:moveTo>
                <a:lnTo>
                  <a:pt x="23798" y="675092"/>
                </a:lnTo>
                <a:lnTo>
                  <a:pt x="240432" y="349532"/>
                </a:lnTo>
                <a:lnTo>
                  <a:pt x="23798" y="23798"/>
                </a:lnTo>
                <a:lnTo>
                  <a:pt x="1776707" y="23798"/>
                </a:lnTo>
                <a:cubicBezTo>
                  <a:pt x="1956626" y="23798"/>
                  <a:pt x="2102267" y="169612"/>
                  <a:pt x="2102267" y="349358"/>
                </a:cubicBezTo>
                <a:lnTo>
                  <a:pt x="2102267" y="349358"/>
                </a:lnTo>
                <a:cubicBezTo>
                  <a:pt x="2102441" y="529277"/>
                  <a:pt x="1956626" y="675092"/>
                  <a:pt x="1776707" y="675092"/>
                </a:cubicBezTo>
                <a:close/>
              </a:path>
            </a:pathLst>
          </a:custGeom>
          <a:solidFill>
            <a:srgbClr val="FD137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19"/>
          <p:cNvPicPr preferRelativeResize="0"/>
          <p:nvPr/>
        </p:nvPicPr>
        <p:blipFill rotWithShape="1">
          <a:blip r:embed="rId4">
            <a:alphaModFix/>
          </a:blip>
          <a:srcRect b="970" l="0" r="0" t="980"/>
          <a:stretch/>
        </p:blipFill>
        <p:spPr>
          <a:xfrm>
            <a:off x="4844739" y="4208310"/>
            <a:ext cx="1647300" cy="1547100"/>
          </a:xfrm>
          <a:prstGeom prst="ellipse">
            <a:avLst/>
          </a:prstGeom>
          <a:noFill/>
          <a:ln cap="flat" cmpd="sng" w="635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6" name="Google Shape;266;p19"/>
          <p:cNvPicPr preferRelativeResize="0"/>
          <p:nvPr/>
        </p:nvPicPr>
        <p:blipFill rotWithShape="1">
          <a:blip r:embed="rId5">
            <a:alphaModFix/>
          </a:blip>
          <a:srcRect b="25107" l="15195" r="18967" t="25692"/>
          <a:stretch/>
        </p:blipFill>
        <p:spPr>
          <a:xfrm>
            <a:off x="8093678" y="4273928"/>
            <a:ext cx="1647300" cy="1570500"/>
          </a:xfrm>
          <a:prstGeom prst="ellipse">
            <a:avLst/>
          </a:prstGeom>
          <a:noFill/>
          <a:ln cap="flat" cmpd="sng" w="63500">
            <a:solidFill>
              <a:srgbClr val="1549B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7" name="Google Shape;267;p19"/>
          <p:cNvPicPr preferRelativeResize="0"/>
          <p:nvPr/>
        </p:nvPicPr>
        <p:blipFill rotWithShape="1">
          <a:blip r:embed="rId6">
            <a:alphaModFix/>
          </a:blip>
          <a:srcRect b="9115" l="2471" r="2471" t="0"/>
          <a:stretch/>
        </p:blipFill>
        <p:spPr>
          <a:xfrm>
            <a:off x="3433875" y="1622475"/>
            <a:ext cx="1559400" cy="1576800"/>
          </a:xfrm>
          <a:prstGeom prst="flowChartConnector">
            <a:avLst/>
          </a:prstGeom>
          <a:noFill/>
          <a:ln cap="flat" cmpd="sng" w="635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8" name="Google Shape;268;p19"/>
          <p:cNvPicPr preferRelativeResize="0"/>
          <p:nvPr/>
        </p:nvPicPr>
        <p:blipFill rotWithShape="1">
          <a:blip r:embed="rId7">
            <a:alphaModFix/>
          </a:blip>
          <a:srcRect b="23196" l="7355" r="0" t="1120"/>
          <a:stretch/>
        </p:blipFill>
        <p:spPr>
          <a:xfrm>
            <a:off x="1807486" y="4295227"/>
            <a:ext cx="1559400" cy="1529100"/>
          </a:xfrm>
          <a:prstGeom prst="flowChartConnector">
            <a:avLst/>
          </a:prstGeom>
          <a:noFill/>
          <a:ln cap="flat" cmpd="sng" w="63500">
            <a:solidFill>
              <a:srgbClr val="FFA73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9" name="Google Shape;269;p19"/>
          <p:cNvPicPr preferRelativeResize="0"/>
          <p:nvPr/>
        </p:nvPicPr>
        <p:blipFill rotWithShape="1">
          <a:blip r:embed="rId8">
            <a:alphaModFix/>
          </a:blip>
          <a:srcRect b="24529" l="18578" r="15562" t="1588"/>
          <a:stretch/>
        </p:blipFill>
        <p:spPr>
          <a:xfrm>
            <a:off x="6568187" y="1663387"/>
            <a:ext cx="1559400" cy="1576800"/>
          </a:xfrm>
          <a:prstGeom prst="flowChartConnector">
            <a:avLst/>
          </a:prstGeom>
          <a:noFill/>
          <a:ln cap="flat" cmpd="sng" w="63500">
            <a:solidFill>
              <a:srgbClr val="296FE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0" name="Google Shape;270;p19"/>
          <p:cNvSpPr txBox="1"/>
          <p:nvPr/>
        </p:nvSpPr>
        <p:spPr>
          <a:xfrm>
            <a:off x="579150" y="702756"/>
            <a:ext cx="24489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Pranav M. Agwan</a:t>
            </a:r>
            <a:endParaRPr b="1"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Branch: B.tech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Stream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Artificial Intelligence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Year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4th Year 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71" name="Google Shape;271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0602" y="1693293"/>
            <a:ext cx="1494000" cy="1473300"/>
          </a:xfrm>
          <a:prstGeom prst="flowChartConnector">
            <a:avLst/>
          </a:prstGeom>
          <a:noFill/>
          <a:ln cap="flat" cmpd="sng" w="63500">
            <a:solidFill>
              <a:srgbClr val="FD137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2" name="Google Shape;272;p19"/>
          <p:cNvSpPr txBox="1"/>
          <p:nvPr/>
        </p:nvSpPr>
        <p:spPr>
          <a:xfrm>
            <a:off x="4875105" y="5827924"/>
            <a:ext cx="26490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Sahil S. Kirpane</a:t>
            </a:r>
            <a:endParaRPr b="1"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Course: B.tech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Branch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Artificial Intelligence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Year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4th Year 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3521702" y="641260"/>
            <a:ext cx="24489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Tanvi S. Jikar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Branch: B.tech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Stream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Artificial Intelligence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Year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4th Year 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8324978" y="5863045"/>
            <a:ext cx="28203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Gaurang Sathe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Branch: B.tech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Stream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Artificial Intelligence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Year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4th Year 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1807482" y="5827924"/>
            <a:ext cx="26490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Trupti Kularkar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Branch: B.tech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Stream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Artificial Intelligence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Year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4th Year 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6662242" y="660975"/>
            <a:ext cx="244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Harsh Mehta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Branch: B.tech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Stream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Artificial Intelligence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Year</a:t>
            </a: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4th Year 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77" name="Google Shape;277;p19"/>
          <p:cNvPicPr preferRelativeResize="0"/>
          <p:nvPr/>
        </p:nvPicPr>
        <p:blipFill rotWithShape="1">
          <a:blip r:embed="rId10">
            <a:alphaModFix/>
          </a:blip>
          <a:srcRect b="10464" l="18600" r="21454" t="7976"/>
          <a:stretch/>
        </p:blipFill>
        <p:spPr>
          <a:xfrm>
            <a:off x="9647247" y="1669518"/>
            <a:ext cx="1665900" cy="1570500"/>
          </a:xfrm>
          <a:prstGeom prst="flowChartConnector">
            <a:avLst/>
          </a:prstGeom>
          <a:noFill/>
          <a:ln cap="flat" cmpd="sng" w="63500">
            <a:solidFill>
              <a:srgbClr val="4815A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8" name="Google Shape;278;p19"/>
          <p:cNvSpPr txBox="1"/>
          <p:nvPr/>
        </p:nvSpPr>
        <p:spPr>
          <a:xfrm>
            <a:off x="9274853" y="644706"/>
            <a:ext cx="249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Achamma Thomas</a:t>
            </a:r>
            <a:endParaRPr b="1"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Category: Academic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Expertise: AIML, Programming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Domain Experience: 10+ Years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79" name="Google Shape;279;p19"/>
          <p:cNvSpPr txBox="1"/>
          <p:nvPr/>
        </p:nvSpPr>
        <p:spPr>
          <a:xfrm>
            <a:off x="638061" y="3505926"/>
            <a:ext cx="13170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Leader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-1121175" y="2680600"/>
            <a:ext cx="819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