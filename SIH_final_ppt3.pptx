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8" name="Google Shape;20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" name="Google Shape;17;p7"/>
          <p:cNvGrpSpPr/>
          <p:nvPr/>
        </p:nvGrpSpPr>
        <p:grpSpPr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8" name="Google Shape;18;p7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" name="Google Shape;19;p7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" name="Google Shape;20;p7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1" name="Google Shape;21;p7"/>
          <p:cNvSpPr txBox="1">
            <a:spLocks noGrp="1"/>
          </p:cNvSpPr>
          <p:nvPr>
            <p:ph type="body" idx="1"/>
          </p:nvPr>
        </p:nvSpPr>
        <p:spPr>
          <a:xfrm>
            <a:off x="6367055" y="4549553"/>
            <a:ext cx="5491570" cy="95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2" name="Google Shape;22;p7"/>
          <p:cNvCxnSpPr/>
          <p:nvPr/>
        </p:nvCxnSpPr>
        <p:spPr>
          <a:xfrm>
            <a:off x="5839833" y="5784349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Introduc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8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Google Shape;25;p8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" name="Google Shape;26;p8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" name="Google Shape;27;p8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8" name="Google Shape;28;p8"/>
          <p:cNvSpPr>
            <a:spLocks noGrp="1"/>
          </p:cNvSpPr>
          <p:nvPr>
            <p:ph type="pic" idx="2"/>
          </p:nvPr>
        </p:nvSpPr>
        <p:spPr>
          <a:xfrm>
            <a:off x="6096000" y="-22543"/>
            <a:ext cx="6096000" cy="6903086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0" name="Google Shape;30;p8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952499" y="2289363"/>
            <a:ext cx="4572001" cy="2795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3480">
          <p15:clr>
            <a:srgbClr val="FBAE40"/>
          </p15:clr>
        </p15:guide>
        <p15:guide id="3" orient="horz" pos="1440">
          <p15:clr>
            <a:srgbClr val="FBAE40"/>
          </p15:clr>
        </p15:guide>
        <p15:guide id="4" orient="horz" pos="1224">
          <p15:clr>
            <a:srgbClr val="FBAE40"/>
          </p15:clr>
        </p15:guide>
        <p15:guide id="5" orient="horz" pos="5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 ">
  <p:cSld name="Summary 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7" name="Google Shape;37;p9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952500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39" name="Google Shape;39;p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40" name="Google Shape;40;p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1" name="Google Shape;41;p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2" name="Google Shape;42;p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953655" y="3841846"/>
            <a:ext cx="4838700" cy="636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953655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5"/>
          </p:nvPr>
        </p:nvSpPr>
        <p:spPr>
          <a:xfrm>
            <a:off x="952500" y="5017901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6"/>
          </p:nvPr>
        </p:nvSpPr>
        <p:spPr>
          <a:xfrm>
            <a:off x="952500" y="4646997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7"/>
          </p:nvPr>
        </p:nvSpPr>
        <p:spPr>
          <a:xfrm>
            <a:off x="6399647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8"/>
          </p:nvPr>
        </p:nvSpPr>
        <p:spPr>
          <a:xfrm>
            <a:off x="6399647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9"/>
          </p:nvPr>
        </p:nvSpPr>
        <p:spPr>
          <a:xfrm>
            <a:off x="6399647" y="3841846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3"/>
          </p:nvPr>
        </p:nvSpPr>
        <p:spPr>
          <a:xfrm>
            <a:off x="6399647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0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57" name="Google Shape;57;p10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8" name="Google Shape;58;p10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" name="Google Shape;59;p10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0" name="Google Shape;60;p10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1" name="Google Shape;61;p10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63" name="Google Shape;63;p10"/>
          <p:cNvCxnSpPr/>
          <p:nvPr/>
        </p:nvCxnSpPr>
        <p:spPr>
          <a:xfrm>
            <a:off x="952500" y="1934655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952500" y="281829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2"/>
          </p:nvPr>
        </p:nvSpPr>
        <p:spPr>
          <a:xfrm>
            <a:off x="952500" y="2209800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6" name="Google Shape;66;p10"/>
          <p:cNvCxnSpPr/>
          <p:nvPr/>
        </p:nvCxnSpPr>
        <p:spPr>
          <a:xfrm>
            <a:off x="3663043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10"/>
          <p:cNvSpPr txBox="1">
            <a:spLocks noGrp="1"/>
          </p:cNvSpPr>
          <p:nvPr>
            <p:ph type="body" idx="3"/>
          </p:nvPr>
        </p:nvSpPr>
        <p:spPr>
          <a:xfrm>
            <a:off x="3663042" y="2818296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4"/>
          </p:nvPr>
        </p:nvSpPr>
        <p:spPr>
          <a:xfrm>
            <a:off x="3663042" y="2209800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9" name="Google Shape;69;p10"/>
          <p:cNvCxnSpPr/>
          <p:nvPr/>
        </p:nvCxnSpPr>
        <p:spPr>
          <a:xfrm>
            <a:off x="952500" y="4248119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0" name="Google Shape;70;p10"/>
          <p:cNvSpPr txBox="1">
            <a:spLocks noGrp="1"/>
          </p:cNvSpPr>
          <p:nvPr>
            <p:ph type="body" idx="5"/>
          </p:nvPr>
        </p:nvSpPr>
        <p:spPr>
          <a:xfrm>
            <a:off x="952500" y="513129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6"/>
          </p:nvPr>
        </p:nvSpPr>
        <p:spPr>
          <a:xfrm>
            <a:off x="952500" y="4522803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2" name="Google Shape;72;p10"/>
          <p:cNvCxnSpPr/>
          <p:nvPr/>
        </p:nvCxnSpPr>
        <p:spPr>
          <a:xfrm>
            <a:off x="3663043" y="4252111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3" name="Google Shape;73;p10"/>
          <p:cNvSpPr txBox="1">
            <a:spLocks noGrp="1"/>
          </p:cNvSpPr>
          <p:nvPr>
            <p:ph type="body" idx="7"/>
          </p:nvPr>
        </p:nvSpPr>
        <p:spPr>
          <a:xfrm>
            <a:off x="3663042" y="5131299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body" idx="8"/>
          </p:nvPr>
        </p:nvSpPr>
        <p:spPr>
          <a:xfrm>
            <a:off x="3663042" y="4522803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5" name="Google Shape;75;p10"/>
          <p:cNvCxnSpPr/>
          <p:nvPr/>
        </p:nvCxnSpPr>
        <p:spPr>
          <a:xfrm>
            <a:off x="6367055" y="4252111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6" name="Google Shape;76;p10"/>
          <p:cNvSpPr txBox="1">
            <a:spLocks noGrp="1"/>
          </p:cNvSpPr>
          <p:nvPr>
            <p:ph type="body" idx="9"/>
          </p:nvPr>
        </p:nvSpPr>
        <p:spPr>
          <a:xfrm>
            <a:off x="6367054" y="513129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body" idx="13"/>
          </p:nvPr>
        </p:nvSpPr>
        <p:spPr>
          <a:xfrm>
            <a:off x="6367054" y="4522803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">
  <p:cSld name="Break"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>
            <a:spLocks noGrp="1"/>
          </p:cNvSpPr>
          <p:nvPr>
            <p:ph type="pic" idx="2"/>
          </p:nvPr>
        </p:nvSpPr>
        <p:spPr>
          <a:xfrm>
            <a:off x="0" y="0"/>
            <a:ext cx="1219199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3" name="Google Shape;83;p11"/>
          <p:cNvSpPr txBox="1"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Franklin Gothic"/>
              <a:buNone/>
              <a:defRPr sz="4100" b="1" i="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84" name="Google Shape;84;p11"/>
          <p:cNvCxnSpPr/>
          <p:nvPr/>
        </p:nvCxnSpPr>
        <p:spPr>
          <a:xfrm>
            <a:off x="7154721" y="4003877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85" name="Google Shape;85;p11"/>
          <p:cNvGrpSpPr/>
          <p:nvPr/>
        </p:nvGrpSpPr>
        <p:grpSpPr>
          <a:xfrm rot="10800000">
            <a:off x="9509760" y="-3"/>
            <a:ext cx="2682238" cy="2682238"/>
            <a:chOff x="0" y="12289"/>
            <a:chExt cx="3550" cy="3551"/>
          </a:xfrm>
        </p:grpSpPr>
        <p:sp>
          <p:nvSpPr>
            <p:cNvPr id="86" name="Google Shape;86;p11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8" name="Google Shape;88;p11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104">
          <p15:clr>
            <a:srgbClr val="FBAE40"/>
          </p15:clr>
        </p15:guide>
        <p15:guide id="2" pos="4344">
          <p15:clr>
            <a:srgbClr val="FBAE40"/>
          </p15:clr>
        </p15:guide>
        <p15:guide id="3" pos="4560">
          <p15:clr>
            <a:srgbClr val="FBAE40"/>
          </p15:clr>
        </p15:guide>
        <p15:guide id="4" orient="horz" pos="18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">
  <p:cSld name="Chart"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>
            <a:spLocks noGrp="1"/>
          </p:cNvSpPr>
          <p:nvPr>
            <p:ph type="chart" idx="2"/>
          </p:nvPr>
        </p:nvSpPr>
        <p:spPr>
          <a:xfrm>
            <a:off x="952500" y="1939108"/>
            <a:ext cx="10352810" cy="4110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">
  <p:cSld name="Table"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"/>
              <a:buNone/>
              <a:defRPr sz="28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“</a:t>
            </a:r>
            <a:endParaRPr/>
          </a:p>
        </p:txBody>
      </p:sp>
      <p:grpSp>
        <p:nvGrpSpPr>
          <p:cNvPr id="103" name="Google Shape;103;p14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04" name="Google Shape;104;p14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109" name="Google Shape;109;p14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10" name="Google Shape;110;p14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5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15" name="Google Shape;115;p15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18" name="Google Shape;118;p15"/>
          <p:cNvSpPr>
            <a:spLocks noGrp="1"/>
          </p:cNvSpPr>
          <p:nvPr>
            <p:ph type="pic" idx="2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0" name="Google Shape;120;p15"/>
          <p:cNvCxnSpPr/>
          <p:nvPr/>
        </p:nvCxnSpPr>
        <p:spPr>
          <a:xfrm>
            <a:off x="952500" y="1939108"/>
            <a:ext cx="2133600" cy="0"/>
          </a:xfrm>
          <a:prstGeom prst="straightConnector1">
            <a:avLst/>
          </a:prstGeom>
          <a:noFill/>
          <a:ln w="1016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1" name="Google Shape;121;p15"/>
          <p:cNvSpPr>
            <a:spLocks noGrp="1"/>
          </p:cNvSpPr>
          <p:nvPr>
            <p:ph type="pic" idx="3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15"/>
          <p:cNvSpPr txBox="1">
            <a:spLocks noGrp="1"/>
          </p:cNvSpPr>
          <p:nvPr>
            <p:ph type="body" idx="1"/>
          </p:nvPr>
        </p:nvSpPr>
        <p:spPr>
          <a:xfrm>
            <a:off x="952500" y="539316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body" idx="4"/>
          </p:nvPr>
        </p:nvSpPr>
        <p:spPr>
          <a:xfrm>
            <a:off x="952500" y="4986745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body" idx="5"/>
          </p:nvPr>
        </p:nvSpPr>
        <p:spPr>
          <a:xfrm>
            <a:off x="3663042" y="5393169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5"/>
          <p:cNvSpPr txBox="1">
            <a:spLocks noGrp="1"/>
          </p:cNvSpPr>
          <p:nvPr>
            <p:ph type="body" idx="6"/>
          </p:nvPr>
        </p:nvSpPr>
        <p:spPr>
          <a:xfrm>
            <a:off x="3663042" y="4986745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7"/>
          </p:nvPr>
        </p:nvSpPr>
        <p:spPr>
          <a:xfrm>
            <a:off x="6367054" y="539316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15"/>
          <p:cNvSpPr txBox="1">
            <a:spLocks noGrp="1"/>
          </p:cNvSpPr>
          <p:nvPr>
            <p:ph type="body" idx="8"/>
          </p:nvPr>
        </p:nvSpPr>
        <p:spPr>
          <a:xfrm>
            <a:off x="6367054" y="4986745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15"/>
          <p:cNvSpPr txBox="1">
            <a:spLocks noGrp="1"/>
          </p:cNvSpPr>
          <p:nvPr>
            <p:ph type="body" idx="9"/>
          </p:nvPr>
        </p:nvSpPr>
        <p:spPr>
          <a:xfrm>
            <a:off x="9110254" y="539316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15"/>
          <p:cNvSpPr txBox="1">
            <a:spLocks noGrp="1"/>
          </p:cNvSpPr>
          <p:nvPr>
            <p:ph type="body" idx="13"/>
          </p:nvPr>
        </p:nvSpPr>
        <p:spPr>
          <a:xfrm>
            <a:off x="9110254" y="4986745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30" name="Google Shape;130;p15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31" name="Google Shape;131;p15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36" name="Google Shape;136;p15"/>
          <p:cNvSpPr>
            <a:spLocks noGrp="1"/>
          </p:cNvSpPr>
          <p:nvPr>
            <p:ph type="pic" idx="14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5"/>
          <p:cNvSpPr>
            <a:spLocks noGrp="1"/>
          </p:cNvSpPr>
          <p:nvPr>
            <p:ph type="pic" idx="15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15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5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5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">
  <p:cSld name="Timeline ">
    <p:bg>
      <p:bgPr>
        <a:solidFill>
          <a:schemeClr val="lt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Google Shape;142;p16"/>
          <p:cNvCxnSpPr/>
          <p:nvPr/>
        </p:nvCxnSpPr>
        <p:spPr>
          <a:xfrm flipH="1">
            <a:off x="1045959" y="2213783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3" name="Google Shape;143;p16"/>
          <p:cNvCxnSpPr/>
          <p:nvPr/>
        </p:nvCxnSpPr>
        <p:spPr>
          <a:xfrm flipH="1">
            <a:off x="6180493" y="2213783"/>
            <a:ext cx="11102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4" name="Google Shape;144;p16"/>
          <p:cNvCxnSpPr/>
          <p:nvPr/>
        </p:nvCxnSpPr>
        <p:spPr>
          <a:xfrm flipH="1">
            <a:off x="8745623" y="3904712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5" name="Google Shape;145;p16"/>
          <p:cNvCxnSpPr/>
          <p:nvPr/>
        </p:nvCxnSpPr>
        <p:spPr>
          <a:xfrm flipH="1">
            <a:off x="3611089" y="3895941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1296955" y="293485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16"/>
          <p:cNvSpPr txBox="1">
            <a:spLocks noGrp="1"/>
          </p:cNvSpPr>
          <p:nvPr>
            <p:ph type="body" idx="2"/>
          </p:nvPr>
        </p:nvSpPr>
        <p:spPr>
          <a:xfrm>
            <a:off x="1296955" y="2568686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16"/>
          <p:cNvSpPr txBox="1">
            <a:spLocks noGrp="1"/>
          </p:cNvSpPr>
          <p:nvPr>
            <p:ph type="body" idx="3"/>
          </p:nvPr>
        </p:nvSpPr>
        <p:spPr>
          <a:xfrm>
            <a:off x="3897799" y="5087328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body" idx="4"/>
          </p:nvPr>
        </p:nvSpPr>
        <p:spPr>
          <a:xfrm>
            <a:off x="3897799" y="4701908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6"/>
          <p:cNvSpPr txBox="1">
            <a:spLocks noGrp="1"/>
          </p:cNvSpPr>
          <p:nvPr>
            <p:ph type="body" idx="5"/>
          </p:nvPr>
        </p:nvSpPr>
        <p:spPr>
          <a:xfrm>
            <a:off x="9001711" y="5087328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body" idx="6"/>
          </p:nvPr>
        </p:nvSpPr>
        <p:spPr>
          <a:xfrm>
            <a:off x="9001711" y="4701908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7"/>
          </p:nvPr>
        </p:nvSpPr>
        <p:spPr>
          <a:xfrm>
            <a:off x="6438143" y="293485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16"/>
          <p:cNvSpPr txBox="1">
            <a:spLocks noGrp="1"/>
          </p:cNvSpPr>
          <p:nvPr>
            <p:ph type="body" idx="8"/>
          </p:nvPr>
        </p:nvSpPr>
        <p:spPr>
          <a:xfrm>
            <a:off x="6438143" y="2568686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55" name="Google Shape;155;p16"/>
          <p:cNvCxnSpPr/>
          <p:nvPr/>
        </p:nvCxnSpPr>
        <p:spPr>
          <a:xfrm>
            <a:off x="967689" y="3968780"/>
            <a:ext cx="10275477" cy="0"/>
          </a:xfrm>
          <a:prstGeom prst="straightConnector1">
            <a:avLst/>
          </a:prstGeom>
          <a:noFill/>
          <a:ln w="1651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6" name="Google Shape;156;p16"/>
          <p:cNvSpPr/>
          <p:nvPr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0" name="Google Shape;160;p16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6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3768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orient="horz" pos="1512">
          <p15:clr>
            <a:srgbClr val="FBAE40"/>
          </p15:clr>
        </p15:guide>
        <p15:guide id="11" orient="horz" pos="28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">
  <p:cSld name="2 Col"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7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65" name="Google Shape;165;p17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68" name="Google Shape;168;p17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69" name="Google Shape;169;p17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17"/>
          <p:cNvSpPr txBox="1"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2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body" idx="3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4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74" name="Google Shape;174;p17"/>
          <p:cNvCxnSpPr/>
          <p:nvPr/>
        </p:nvCxnSpPr>
        <p:spPr>
          <a:xfrm>
            <a:off x="63627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5" name="Google Shape;175;p17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7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7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">
  <p:cSld name="3 col">
    <p:bg>
      <p:bgPr>
        <a:solidFill>
          <a:schemeClr val="lt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18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80" name="Google Shape;180;p18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83" name="Google Shape;183;p18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84" name="Google Shape;184;p18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5" name="Google Shape;185;p18"/>
          <p:cNvSpPr txBox="1"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6" name="Google Shape;186;p18"/>
          <p:cNvSpPr txBox="1">
            <a:spLocks noGrp="1"/>
          </p:cNvSpPr>
          <p:nvPr>
            <p:ph type="body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18"/>
          <p:cNvSpPr txBox="1">
            <a:spLocks noGrp="1"/>
          </p:cNvSpPr>
          <p:nvPr>
            <p:ph type="body" idx="3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8" name="Google Shape;188;p18"/>
          <p:cNvSpPr txBox="1">
            <a:spLocks noGrp="1"/>
          </p:cNvSpPr>
          <p:nvPr>
            <p:ph type="body" idx="4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18"/>
          <p:cNvSpPr txBox="1">
            <a:spLocks noGrp="1"/>
          </p:cNvSpPr>
          <p:nvPr>
            <p:ph type="body" idx="5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0" name="Google Shape;190;p18"/>
          <p:cNvSpPr txBox="1">
            <a:spLocks noGrp="1"/>
          </p:cNvSpPr>
          <p:nvPr>
            <p:ph type="body" idx="6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91" name="Google Shape;191;p18"/>
          <p:cNvCxnSpPr/>
          <p:nvPr/>
        </p:nvCxnSpPr>
        <p:spPr>
          <a:xfrm>
            <a:off x="4569372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2" name="Google Shape;192;p18"/>
          <p:cNvCxnSpPr/>
          <p:nvPr/>
        </p:nvCxnSpPr>
        <p:spPr>
          <a:xfrm>
            <a:off x="8187017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3" name="Google Shape;193;p18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8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8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>
          <p15:clr>
            <a:srgbClr val="FBAE40"/>
          </p15:clr>
        </p15:guide>
        <p15:guide id="4" pos="5160">
          <p15:clr>
            <a:srgbClr val="FBAE40"/>
          </p15:clr>
        </p15:guide>
        <p15:guide id="5" orient="horz" pos="1224">
          <p15:clr>
            <a:srgbClr val="FBAE40"/>
          </p15:clr>
        </p15:guide>
        <p15:guide id="6" orient="horz" pos="1440">
          <p15:clr>
            <a:srgbClr val="FBAE40"/>
          </p15:clr>
        </p15:guide>
        <p15:guide id="7" orient="horz" pos="552">
          <p15:clr>
            <a:srgbClr val="FBAE40"/>
          </p15:clr>
        </p15:guide>
        <p15:guide id="8" pos="4800">
          <p15:clr>
            <a:srgbClr val="FBAE40"/>
          </p15:clr>
        </p15:guide>
        <p15:guide id="9" pos="2880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bg>
      <p:bgPr>
        <a:solidFill>
          <a:schemeClr val="lt1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 txBox="1">
            <a:spLocks noGrp="1"/>
          </p:cNvSpPr>
          <p:nvPr>
            <p:ph type="body" idx="1"/>
          </p:nvPr>
        </p:nvSpPr>
        <p:spPr>
          <a:xfrm>
            <a:off x="6896100" y="5102063"/>
            <a:ext cx="4914900" cy="58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0" i="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19"/>
          <p:cNvSpPr txBox="1">
            <a:spLocks noGrp="1"/>
          </p:cNvSpPr>
          <p:nvPr>
            <p:ph type="subTitle" idx="2"/>
          </p:nvPr>
        </p:nvSpPr>
        <p:spPr>
          <a:xfrm>
            <a:off x="6907623" y="3591098"/>
            <a:ext cx="4903377" cy="105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9" name="Google Shape;199;p19"/>
          <p:cNvSpPr txBox="1"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00" name="Google Shape;200;p19"/>
          <p:cNvCxnSpPr/>
          <p:nvPr/>
        </p:nvCxnSpPr>
        <p:spPr>
          <a:xfrm>
            <a:off x="6896100" y="3233703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1" name="Google Shape;201;p19"/>
          <p:cNvSpPr>
            <a:spLocks noGrp="1"/>
          </p:cNvSpPr>
          <p:nvPr>
            <p:ph type="pic" idx="3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2" name="Google Shape;202;p1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203" name="Google Shape;203;p1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mailto:2021bit057@sggs.ac.in" TargetMode="External"/><Relationship Id="rId3" Type="http://schemas.openxmlformats.org/officeDocument/2006/relationships/hyperlink" Target="mailto:2021051bit@sggs.ac.in" TargetMode="External"/><Relationship Id="rId7" Type="http://schemas.openxmlformats.org/officeDocument/2006/relationships/hyperlink" Target="mailto:2021bit023@sggs.ac.i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hyperlink" Target="mailto:2021bit043@sggs.ac.in" TargetMode="External"/><Relationship Id="rId5" Type="http://schemas.openxmlformats.org/officeDocument/2006/relationships/hyperlink" Target="mailto:2021bit058@sggs.ac.in" TargetMode="External"/><Relationship Id="rId4" Type="http://schemas.openxmlformats.org/officeDocument/2006/relationships/hyperlink" Target="mailto:2021bit019@sggs.ac.in" TargetMode="Externa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"/>
          <p:cNvSpPr txBox="1">
            <a:spLocks noGrp="1"/>
          </p:cNvSpPr>
          <p:nvPr>
            <p:ph type="ctrTitle"/>
          </p:nvPr>
        </p:nvSpPr>
        <p:spPr>
          <a:xfrm>
            <a:off x="4679983" y="296033"/>
            <a:ext cx="6461759" cy="658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anklin Gothic"/>
              <a:buNone/>
            </a:pPr>
            <a:r>
              <a:rPr lang="en-US" sz="3600" b="1" dirty="0"/>
              <a:t>Problem Statement</a:t>
            </a:r>
            <a:endParaRPr dirty="0"/>
          </a:p>
        </p:txBody>
      </p:sp>
      <p:sp>
        <p:nvSpPr>
          <p:cNvPr id="211" name="Google Shape;211;p1"/>
          <p:cNvSpPr txBox="1">
            <a:spLocks noGrp="1"/>
          </p:cNvSpPr>
          <p:nvPr>
            <p:ph type="body" idx="1"/>
          </p:nvPr>
        </p:nvSpPr>
        <p:spPr>
          <a:xfrm>
            <a:off x="4544937" y="1359313"/>
            <a:ext cx="7168293" cy="383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2000" b="1" u="sng" dirty="0">
                <a:latin typeface="Franklin Gothic"/>
                <a:ea typeface="Franklin Gothic"/>
                <a:cs typeface="Franklin Gothic"/>
                <a:sym typeface="Franklin Gothic"/>
              </a:rPr>
              <a:t>Ministry/Organization Name</a:t>
            </a:r>
            <a:r>
              <a:rPr lang="en-US" sz="2000" dirty="0">
                <a:latin typeface="Franklin Gothic"/>
                <a:ea typeface="Franklin Gothic"/>
                <a:cs typeface="Franklin Gothic"/>
                <a:sym typeface="Franklin Gothic"/>
              </a:rPr>
              <a:t> : AICTE , MIC- Student  Innovation</a:t>
            </a:r>
            <a:endParaRPr sz="2000" dirty="0"/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endParaRPr sz="2000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2000" b="1" u="sng" dirty="0">
                <a:latin typeface="Franklin Gothic"/>
                <a:ea typeface="Franklin Gothic"/>
                <a:cs typeface="Franklin Gothic"/>
                <a:sym typeface="Franklin Gothic"/>
              </a:rPr>
              <a:t>PS Code </a:t>
            </a:r>
            <a:r>
              <a:rPr lang="en-US" sz="2000" dirty="0">
                <a:latin typeface="Franklin Gothic"/>
                <a:ea typeface="Franklin Gothic"/>
                <a:cs typeface="Franklin Gothic"/>
                <a:sym typeface="Franklin Gothic"/>
              </a:rPr>
              <a:t>: 1487</a:t>
            </a:r>
            <a:endParaRPr sz="2000" dirty="0"/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2000" dirty="0">
                <a:latin typeface="Franklin Gothic"/>
                <a:ea typeface="Franklin Gothic"/>
                <a:cs typeface="Franklin Gothic"/>
                <a:sym typeface="Franklin Gothic"/>
              </a:rPr>
              <a:t>   </a:t>
            </a:r>
            <a:br>
              <a:rPr lang="en-US" sz="2000" dirty="0"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sz="2000" b="1" u="sng" dirty="0">
                <a:latin typeface="Franklin Gothic"/>
                <a:ea typeface="Franklin Gothic"/>
                <a:cs typeface="Franklin Gothic"/>
                <a:sym typeface="Franklin Gothic"/>
              </a:rPr>
              <a:t>Problem Statement Title</a:t>
            </a:r>
            <a:r>
              <a:rPr lang="en-US" sz="2000" u="sng" dirty="0"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lang="en-US" sz="2000" dirty="0">
                <a:latin typeface="Franklin Gothic"/>
                <a:ea typeface="Franklin Gothic"/>
                <a:cs typeface="Franklin Gothic"/>
                <a:sym typeface="Franklin Gothic"/>
              </a:rPr>
              <a:t>: “Student Innovation – Solution could be in</a:t>
            </a:r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2000" dirty="0">
                <a:latin typeface="Franklin Gothic"/>
                <a:ea typeface="Franklin Gothic"/>
                <a:cs typeface="Franklin Gothic"/>
                <a:sym typeface="Franklin Gothic"/>
              </a:rPr>
              <a:t> 			the form of waste  Segregation, Disposal</a:t>
            </a:r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2000" dirty="0">
                <a:latin typeface="Franklin Gothic"/>
                <a:ea typeface="Franklin Gothic"/>
                <a:cs typeface="Franklin Gothic"/>
                <a:sym typeface="Franklin Gothic"/>
              </a:rPr>
              <a:t> 			and Improve Sanitization System”.</a:t>
            </a:r>
            <a:endParaRPr sz="2000" dirty="0"/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 sz="2000" u="sng" dirty="0"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sz="2000" b="1" u="sng" dirty="0">
                <a:latin typeface="Franklin Gothic"/>
                <a:ea typeface="Franklin Gothic"/>
                <a:cs typeface="Franklin Gothic"/>
                <a:sym typeface="Franklin Gothic"/>
              </a:rPr>
              <a:t>Team Name </a:t>
            </a:r>
            <a:r>
              <a:rPr lang="en-US" sz="2000" dirty="0">
                <a:latin typeface="Franklin Gothic"/>
                <a:ea typeface="Franklin Gothic"/>
                <a:cs typeface="Franklin Gothic"/>
                <a:sym typeface="Franklin Gothic"/>
              </a:rPr>
              <a:t>: Eco-Warrior’s</a:t>
            </a:r>
            <a:endParaRPr sz="2000" dirty="0"/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 sz="2000" u="sng" dirty="0"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sz="2000" b="1" u="sng" dirty="0">
                <a:latin typeface="Franklin Gothic"/>
                <a:ea typeface="Franklin Gothic"/>
                <a:cs typeface="Franklin Gothic"/>
                <a:sym typeface="Franklin Gothic"/>
              </a:rPr>
              <a:t>Team Leader </a:t>
            </a:r>
            <a:r>
              <a:rPr lang="en-US" sz="2000" dirty="0">
                <a:latin typeface="Franklin Gothic"/>
                <a:ea typeface="Franklin Gothic"/>
                <a:cs typeface="Franklin Gothic"/>
                <a:sym typeface="Franklin Gothic"/>
              </a:rPr>
              <a:t>: Sneha D  Nile</a:t>
            </a:r>
            <a:endParaRPr sz="2000" dirty="0"/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 sz="2000" u="sng" dirty="0"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sz="2000" b="1" u="sng" dirty="0">
                <a:latin typeface="Franklin Gothic"/>
                <a:ea typeface="Franklin Gothic"/>
                <a:cs typeface="Franklin Gothic"/>
                <a:sym typeface="Franklin Gothic"/>
              </a:rPr>
              <a:t>Institute Code </a:t>
            </a:r>
            <a:r>
              <a:rPr lang="en-US" sz="2000" u="sng" dirty="0">
                <a:latin typeface="Franklin Gothic"/>
                <a:ea typeface="Franklin Gothic"/>
                <a:cs typeface="Franklin Gothic"/>
                <a:sym typeface="Franklin Gothic"/>
              </a:rPr>
              <a:t>(</a:t>
            </a:r>
            <a:r>
              <a:rPr lang="en-US" sz="2000" b="1" u="sng" dirty="0">
                <a:latin typeface="Franklin Gothic"/>
                <a:ea typeface="Franklin Gothic"/>
                <a:cs typeface="Franklin Gothic"/>
                <a:sym typeface="Franklin Gothic"/>
              </a:rPr>
              <a:t>AISHE) </a:t>
            </a:r>
            <a:r>
              <a:rPr lang="en-US" sz="2000" dirty="0">
                <a:latin typeface="Franklin Gothic"/>
                <a:ea typeface="Franklin Gothic"/>
                <a:cs typeface="Franklin Gothic"/>
                <a:sym typeface="Franklin Gothic"/>
              </a:rPr>
              <a:t>: 2020</a:t>
            </a:r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 sz="2000" u="sng" dirty="0"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sz="2000" b="1" u="sng" dirty="0">
                <a:latin typeface="Franklin Gothic"/>
                <a:ea typeface="Franklin Gothic"/>
                <a:cs typeface="Franklin Gothic"/>
                <a:sym typeface="Franklin Gothic"/>
              </a:rPr>
              <a:t>Institute Name </a:t>
            </a:r>
            <a:r>
              <a:rPr lang="en-US" sz="2000" dirty="0">
                <a:latin typeface="Franklin Gothic"/>
                <a:ea typeface="Franklin Gothic"/>
                <a:cs typeface="Franklin Gothic"/>
                <a:sym typeface="Franklin Gothic"/>
              </a:rPr>
              <a:t>: Shri Guru Gobind Singhji Institute of </a:t>
            </a:r>
            <a:r>
              <a:rPr lang="en-IN" sz="2000" dirty="0">
                <a:latin typeface="Franklin Gothic"/>
                <a:ea typeface="Franklin Gothic"/>
                <a:cs typeface="Franklin Gothic"/>
                <a:sym typeface="Franklin Gothic"/>
              </a:rPr>
              <a:t>Engineering </a:t>
            </a:r>
            <a:endParaRPr lang="en-US" sz="2000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2000" dirty="0">
                <a:latin typeface="Franklin Gothic"/>
                <a:ea typeface="Franklin Gothic"/>
                <a:cs typeface="Franklin Gothic"/>
                <a:sym typeface="Franklin Gothic"/>
              </a:rPr>
              <a:t>		</a:t>
            </a:r>
            <a:r>
              <a:rPr lang="en-IN" sz="2000" dirty="0">
                <a:latin typeface="Franklin Gothic"/>
                <a:ea typeface="Franklin Gothic"/>
                <a:cs typeface="Franklin Gothic"/>
                <a:sym typeface="Franklin Gothic"/>
              </a:rPr>
              <a:t>and Technology</a:t>
            </a:r>
            <a:r>
              <a:rPr lang="en-US" sz="2000" dirty="0">
                <a:latin typeface="Franklin Gothic"/>
                <a:ea typeface="Franklin Gothic"/>
                <a:cs typeface="Franklin Gothic"/>
                <a:sym typeface="Franklin Gothic"/>
              </a:rPr>
              <a:t> (SGGSIET), Nanded</a:t>
            </a:r>
            <a:endParaRPr lang="en-US" sz="2000" dirty="0"/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endParaRPr lang="en-US" sz="2000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2000" b="1" u="sng" dirty="0">
                <a:latin typeface="Franklin Gothic"/>
                <a:ea typeface="Franklin Gothic"/>
                <a:cs typeface="Franklin Gothic"/>
                <a:sym typeface="Franklin Gothic"/>
              </a:rPr>
              <a:t>Theme Name </a:t>
            </a:r>
            <a:r>
              <a:rPr lang="en-US" sz="2000" dirty="0">
                <a:latin typeface="Franklin Gothic"/>
                <a:ea typeface="Franklin Gothic"/>
                <a:cs typeface="Franklin Gothic"/>
                <a:sym typeface="Franklin Gothic"/>
              </a:rPr>
              <a:t>:  Clean And Green Technology </a:t>
            </a:r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endParaRPr lang="en-US" sz="2000" dirty="0"/>
          </a:p>
        </p:txBody>
      </p:sp>
      <p:pic>
        <p:nvPicPr>
          <p:cNvPr id="212" name="Google Shape;212;p1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692366" y="118676"/>
            <a:ext cx="3330245" cy="1670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"/>
          <p:cNvSpPr txBox="1">
            <a:spLocks noGrp="1"/>
          </p:cNvSpPr>
          <p:nvPr>
            <p:ph type="title"/>
          </p:nvPr>
        </p:nvSpPr>
        <p:spPr>
          <a:xfrm>
            <a:off x="816539" y="790361"/>
            <a:ext cx="5534431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ranklin Gothic"/>
              <a:buNone/>
            </a:pPr>
            <a:r>
              <a:rPr lang="en-US" dirty="0"/>
              <a:t>Idea/Approach Details</a:t>
            </a:r>
            <a:endParaRPr dirty="0"/>
          </a:p>
        </p:txBody>
      </p:sp>
      <p:sp>
        <p:nvSpPr>
          <p:cNvPr id="218" name="Google Shape;218;p2"/>
          <p:cNvSpPr txBox="1">
            <a:spLocks noGrp="1"/>
          </p:cNvSpPr>
          <p:nvPr>
            <p:ph type="body" idx="1"/>
          </p:nvPr>
        </p:nvSpPr>
        <p:spPr>
          <a:xfrm>
            <a:off x="678426" y="2151634"/>
            <a:ext cx="7039435" cy="430652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1800" b="1" u="sng" dirty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idea/Solution/Prototype </a:t>
            </a:r>
            <a:r>
              <a:rPr lang="en-US" sz="1800" dirty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:</a:t>
            </a:r>
            <a:endParaRPr dirty="0"/>
          </a:p>
          <a:p>
            <a:pPr marL="285750" indent="-285750">
              <a:buFont typeface="Noto Sans Symbols"/>
              <a:buChar char="⮚"/>
            </a:pPr>
            <a:r>
              <a:rPr lang="en-US" dirty="0"/>
              <a:t> </a:t>
            </a:r>
            <a:r>
              <a:rPr lang="en-US" sz="1600" i="1" dirty="0">
                <a:ea typeface="+mj-lt"/>
                <a:cs typeface="+mj-lt"/>
              </a:rPr>
              <a:t>The "Smart Recycling and Waste Management System with User Incentives" integrates technology and user engagement to encourage responsible waste disposal and recycling.</a:t>
            </a:r>
          </a:p>
          <a:p>
            <a:pPr marL="285750" indent="-285750">
              <a:buFont typeface="Noto Sans Symbols"/>
              <a:buChar char="⮚"/>
            </a:pPr>
            <a:r>
              <a:rPr lang="en-US" sz="1600" i="1" dirty="0">
                <a:ea typeface="+mj-lt"/>
                <a:cs typeface="+mj-lt"/>
              </a:rPr>
              <a:t> In this system, drivers operating collection vehicles scan QR codes and input the weight of users' garbage into the app.</a:t>
            </a:r>
          </a:p>
          <a:p>
            <a:pPr marL="285750" indent="-285750">
              <a:buFont typeface="Noto Sans Symbols"/>
              <a:buChar char="⮚"/>
            </a:pPr>
            <a:r>
              <a:rPr lang="en-US" sz="1600" i="1" dirty="0">
                <a:ea typeface="+mj-lt"/>
                <a:cs typeface="+mj-lt"/>
              </a:rPr>
              <a:t> The collected waste is then transported to a central facility, and users receive notifications confirming their waste's arrival, accompanied by reward points.</a:t>
            </a:r>
          </a:p>
          <a:p>
            <a:pPr marL="285750" indent="-285750">
              <a:buFont typeface="Noto Sans Symbols"/>
              <a:buChar char="⮚"/>
            </a:pPr>
            <a:r>
              <a:rPr lang="en-US" sz="1600" i="1" dirty="0">
                <a:ea typeface="+mj-lt"/>
                <a:cs typeface="+mj-lt"/>
              </a:rPr>
              <a:t> At the facility, the garbage is categorized and sent for recycling, with additional rewards for users contributing to recycling efforts. </a:t>
            </a:r>
          </a:p>
          <a:p>
            <a:pPr marL="285750" indent="-285750">
              <a:buFont typeface="Noto Sans Symbols"/>
              <a:buChar char="⮚"/>
            </a:pPr>
            <a:r>
              <a:rPr lang="en-US" sz="1600" i="1" dirty="0">
                <a:ea typeface="+mj-lt"/>
                <a:cs typeface="+mj-lt"/>
              </a:rPr>
              <a:t>This system promotes environmental awareness, transparency, and community involvement, reducing landfill waste and the carbon footprint. Collected data guides sustainable waste management strategies for a greener future. </a:t>
            </a:r>
            <a:endParaRPr lang="en-IN" sz="1600" dirty="0"/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dirty="0"/>
          </a:p>
          <a:p>
            <a:pPr marL="285750" lvl="0" indent="-184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dirty="0"/>
          </a:p>
        </p:txBody>
      </p:sp>
      <p:sp>
        <p:nvSpPr>
          <p:cNvPr id="219" name="Google Shape;219;p2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22" name="Google Shape;222;p2"/>
          <p:cNvSpPr txBox="1"/>
          <p:nvPr/>
        </p:nvSpPr>
        <p:spPr>
          <a:xfrm>
            <a:off x="8288593" y="1589565"/>
            <a:ext cx="3224981" cy="256948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en-US" sz="1800" b="1" i="0" u="sng" dirty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Technology stack </a:t>
            </a:r>
            <a:r>
              <a:rPr lang="en-US" sz="1600" b="0" i="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endParaRPr lang="en-US" sz="1600" dirty="0">
              <a:solidFill>
                <a:schemeClr val="dk1"/>
              </a:solidFill>
              <a:latin typeface="Libre Franklin"/>
              <a:sym typeface="Libre Frankli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tx1"/>
                </a:solidFill>
                <a:latin typeface="Libre Franklin" pitchFamily="2" charset="0"/>
              </a:rPr>
              <a:t>Figma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b="0" i="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Flutter 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b="0" i="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Python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b="0" i="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Cloud services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b="0" i="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Database language’s like </a:t>
            </a:r>
            <a:r>
              <a:rPr lang="en-US" sz="1600" b="0" i="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MySql</a:t>
            </a:r>
            <a:r>
              <a:rPr lang="en-US" sz="1600" b="0" i="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and MongoDB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lang="en-US" sz="1600" b="0" i="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BF08FE-2A83-6BBB-6AC4-780AF0982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482" y="4304899"/>
            <a:ext cx="4483510" cy="21942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3AB406-B5CC-EA32-EF4F-C588240129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1083" y="-285334"/>
            <a:ext cx="2271459" cy="18748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"/>
          <p:cNvSpPr txBox="1">
            <a:spLocks noGrp="1"/>
          </p:cNvSpPr>
          <p:nvPr>
            <p:ph type="title"/>
          </p:nvPr>
        </p:nvSpPr>
        <p:spPr>
          <a:xfrm>
            <a:off x="952499" y="1096346"/>
            <a:ext cx="5780809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ranklin Gothic"/>
              <a:buNone/>
            </a:pPr>
            <a:r>
              <a:rPr lang="en-US" dirty="0"/>
              <a:t>Idea/Approach Details</a:t>
            </a:r>
            <a:endParaRPr dirty="0"/>
          </a:p>
        </p:txBody>
      </p:sp>
      <p:sp>
        <p:nvSpPr>
          <p:cNvPr id="228" name="Google Shape;228;p3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1800" b="1" u="sng" dirty="0"/>
              <a:t>Use Cases </a:t>
            </a:r>
            <a:endParaRPr b="1" u="sng" dirty="0"/>
          </a:p>
        </p:txBody>
      </p:sp>
      <p:sp>
        <p:nvSpPr>
          <p:cNvPr id="229" name="Google Shape;229;p3"/>
          <p:cNvSpPr txBox="1">
            <a:spLocks noGrp="1"/>
          </p:cNvSpPr>
          <p:nvPr>
            <p:ph type="body" idx="1"/>
          </p:nvPr>
        </p:nvSpPr>
        <p:spPr>
          <a:xfrm>
            <a:off x="952499" y="2656903"/>
            <a:ext cx="6185720" cy="392296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tx1"/>
                </a:solidFill>
                <a:effectLst/>
                <a:latin typeface="Söhne"/>
              </a:rPr>
              <a:t>Efficient Waste Recording:</a:t>
            </a:r>
            <a:endParaRPr lang="en-US" b="0" i="0" dirty="0">
              <a:solidFill>
                <a:schemeClr val="tx1"/>
              </a:solidFill>
              <a:effectLst/>
              <a:latin typeface="Söhne"/>
            </a:endParaRPr>
          </a:p>
          <a:p>
            <a:pPr marL="457200" lvl="1" indent="0" algn="l">
              <a:buNone/>
            </a:pPr>
            <a:r>
              <a:rPr lang="en-US" sz="1600" b="0" i="0" dirty="0">
                <a:solidFill>
                  <a:schemeClr val="tx1"/>
                </a:solidFill>
                <a:effectLst/>
                <a:latin typeface="Söhne"/>
              </a:rPr>
              <a:t>Users, in an effort to responsibly manage waste, use the app to record their garbage's weight by scanning QR codes on waste collection vehicles.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tx1"/>
                </a:solidFill>
                <a:effectLst/>
                <a:latin typeface="Söhne"/>
              </a:rPr>
              <a:t>Transparent Waste Journey:</a:t>
            </a:r>
            <a:endParaRPr lang="en-US" b="0" i="0" dirty="0">
              <a:solidFill>
                <a:schemeClr val="tx1"/>
              </a:solidFill>
              <a:effectLst/>
              <a:latin typeface="Söhne"/>
            </a:endParaRPr>
          </a:p>
          <a:p>
            <a:pPr marL="457200" lvl="1" indent="0" algn="l">
              <a:buNone/>
            </a:pPr>
            <a:r>
              <a:rPr lang="en-US" sz="1600" b="0" i="0" dirty="0">
                <a:solidFill>
                  <a:schemeClr val="tx1"/>
                </a:solidFill>
                <a:effectLst/>
                <a:latin typeface="Söhne"/>
              </a:rPr>
              <a:t>After disposal, users receive notifications confirming their waste's arrival at the central facility and later at recycling factories.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tx1"/>
                </a:solidFill>
                <a:effectLst/>
                <a:latin typeface="Söhne"/>
              </a:rPr>
              <a:t>Incentivized Recycling Participation:</a:t>
            </a:r>
            <a:endParaRPr lang="en-US" b="0" i="0" dirty="0">
              <a:solidFill>
                <a:schemeClr val="tx1"/>
              </a:solidFill>
              <a:effectLst/>
              <a:latin typeface="Söhne"/>
            </a:endParaRPr>
          </a:p>
          <a:p>
            <a:pPr marL="457200" lvl="1" indent="0" algn="l">
              <a:buNone/>
            </a:pPr>
            <a:r>
              <a:rPr lang="en-US" sz="1600" b="0" i="0" dirty="0">
                <a:solidFill>
                  <a:schemeClr val="tx1"/>
                </a:solidFill>
                <a:effectLst/>
                <a:latin typeface="Söhne"/>
              </a:rPr>
              <a:t>Users receive bonus points upon their waste being successfully recycled, encouraging consistent recycling efforts.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tx1"/>
                </a:solidFill>
                <a:effectLst/>
                <a:latin typeface="Söhne"/>
              </a:rPr>
              <a:t>User-Friendly Waste Categorization:</a:t>
            </a:r>
            <a:endParaRPr lang="en-US" b="0" i="0" dirty="0">
              <a:solidFill>
                <a:schemeClr val="tx1"/>
              </a:solidFill>
              <a:effectLst/>
              <a:latin typeface="Söhne"/>
            </a:endParaRPr>
          </a:p>
          <a:p>
            <a:pPr marL="457200" lvl="1" indent="0" algn="l">
              <a:buNone/>
            </a:pPr>
            <a:r>
              <a:rPr lang="en-US" sz="1600" b="0" i="0" dirty="0">
                <a:solidFill>
                  <a:schemeClr val="tx1"/>
                </a:solidFill>
                <a:effectLst/>
                <a:latin typeface="Söhne"/>
              </a:rPr>
              <a:t>Users receive notifications indicating the successful sorting of their waste into specific categories at the central facility.</a:t>
            </a:r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lang="en-US" dirty="0"/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lang="en-US" dirty="0"/>
          </a:p>
        </p:txBody>
      </p:sp>
      <p:sp>
        <p:nvSpPr>
          <p:cNvPr id="230" name="Google Shape;230;p3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31" name="Google Shape;231;p3"/>
          <p:cNvSpPr txBox="1"/>
          <p:nvPr/>
        </p:nvSpPr>
        <p:spPr>
          <a:xfrm>
            <a:off x="7315200" y="2261418"/>
            <a:ext cx="5143500" cy="315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en-IN" sz="1800" b="1" u="sng" dirty="0">
                <a:solidFill>
                  <a:schemeClr val="tx2"/>
                </a:solidFill>
                <a:latin typeface="Franklin Gothic"/>
              </a:rPr>
              <a:t>Dependencies</a:t>
            </a:r>
            <a:endParaRPr sz="1800" b="1" u="sng" dirty="0">
              <a:solidFill>
                <a:schemeClr val="tx2"/>
              </a:solidFill>
              <a:latin typeface="Franklin Gothic"/>
            </a:endParaRPr>
          </a:p>
        </p:txBody>
      </p:sp>
      <p:sp>
        <p:nvSpPr>
          <p:cNvPr id="232" name="Google Shape;232;p3"/>
          <p:cNvSpPr txBox="1"/>
          <p:nvPr/>
        </p:nvSpPr>
        <p:spPr>
          <a:xfrm>
            <a:off x="7482348" y="2656903"/>
            <a:ext cx="4168878" cy="2495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tx1"/>
                </a:solidFill>
                <a:effectLst/>
                <a:latin typeface="Söhne"/>
              </a:rPr>
              <a:t>Mobile Application:</a:t>
            </a:r>
            <a:endParaRPr lang="en-US" b="0" i="0" dirty="0">
              <a:solidFill>
                <a:schemeClr val="tx1"/>
              </a:solidFill>
              <a:effectLst/>
              <a:latin typeface="Söhne"/>
            </a:endParaRPr>
          </a:p>
          <a:p>
            <a:pPr marL="457200" lvl="1" algn="l"/>
            <a:r>
              <a:rPr lang="en-US" b="0" i="1" dirty="0">
                <a:solidFill>
                  <a:schemeClr val="tx1"/>
                </a:solidFill>
                <a:effectLst/>
                <a:latin typeface="Söhne"/>
              </a:rPr>
              <a:t>Dependencies:</a:t>
            </a:r>
            <a:r>
              <a:rPr lang="en-US" b="0" i="0" dirty="0">
                <a:solidFill>
                  <a:schemeClr val="tx1"/>
                </a:solidFill>
                <a:effectLst/>
                <a:latin typeface="Söhne"/>
              </a:rPr>
              <a:t> Smartphone or tablet, compatible operating system (iOS, Android), app stores (Google Play, Apple App Store).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tx1"/>
                </a:solidFill>
                <a:effectLst/>
                <a:latin typeface="Söhne"/>
              </a:rPr>
              <a:t>QR Code Infrastructure:</a:t>
            </a:r>
            <a:endParaRPr lang="en-US" b="0" i="0" dirty="0">
              <a:solidFill>
                <a:schemeClr val="tx1"/>
              </a:solidFill>
              <a:effectLst/>
              <a:latin typeface="Söhne"/>
            </a:endParaRPr>
          </a:p>
          <a:p>
            <a:pPr marL="457200" lvl="1" algn="l"/>
            <a:r>
              <a:rPr lang="en-US" b="0" i="1" dirty="0">
                <a:solidFill>
                  <a:schemeClr val="tx1"/>
                </a:solidFill>
                <a:effectLst/>
                <a:latin typeface="Söhne"/>
              </a:rPr>
              <a:t>Dependencies:</a:t>
            </a:r>
            <a:r>
              <a:rPr lang="en-US" b="0" i="0" dirty="0">
                <a:solidFill>
                  <a:schemeClr val="tx1"/>
                </a:solidFill>
                <a:effectLst/>
                <a:latin typeface="Söhne"/>
              </a:rPr>
              <a:t> QR code generator, waste collection vehicles equipped with QR scanners.</a:t>
            </a:r>
          </a:p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b="1" i="0" dirty="0">
                <a:solidFill>
                  <a:schemeClr val="tx1"/>
                </a:solidFill>
                <a:effectLst/>
                <a:latin typeface="Söhne"/>
              </a:rPr>
              <a:t>3. Notification System: </a:t>
            </a:r>
          </a:p>
          <a:p>
            <a:pPr algn="l"/>
            <a:r>
              <a:rPr lang="en-US" b="1" dirty="0">
                <a:solidFill>
                  <a:schemeClr val="tx1"/>
                </a:solidFill>
                <a:latin typeface="Söhne"/>
              </a:rPr>
              <a:t>          </a:t>
            </a:r>
            <a:r>
              <a:rPr lang="en-US" b="0" i="1" dirty="0">
                <a:solidFill>
                  <a:schemeClr val="tx1"/>
                </a:solidFill>
                <a:effectLst/>
                <a:latin typeface="Söhne"/>
              </a:rPr>
              <a:t>Dependencies:</a:t>
            </a:r>
            <a:r>
              <a:rPr lang="en-US" b="0" i="0" dirty="0">
                <a:solidFill>
                  <a:schemeClr val="tx1"/>
                </a:solidFill>
                <a:effectLst/>
                <a:latin typeface="Söhne"/>
              </a:rPr>
              <a:t> Internet connectivity, push</a:t>
            </a:r>
          </a:p>
          <a:p>
            <a:r>
              <a:rPr lang="en-US" dirty="0">
                <a:solidFill>
                  <a:schemeClr val="tx1"/>
                </a:solidFill>
                <a:latin typeface="Söhne"/>
              </a:rPr>
              <a:t>          </a:t>
            </a:r>
            <a:r>
              <a:rPr lang="en-US" b="0" i="0" dirty="0">
                <a:solidFill>
                  <a:schemeClr val="tx1"/>
                </a:solidFill>
                <a:effectLst/>
                <a:latin typeface="Söhne"/>
              </a:rPr>
              <a:t>notification services.</a:t>
            </a:r>
          </a:p>
          <a:p>
            <a:pPr algn="l"/>
            <a:endParaRPr lang="en-US" b="0" i="0" dirty="0">
              <a:solidFill>
                <a:schemeClr val="tx1"/>
              </a:solidFill>
              <a:effectLst/>
              <a:latin typeface="Söhne"/>
            </a:endParaRPr>
          </a:p>
          <a:p>
            <a:pPr lvl="6" algn="ctr">
              <a:lnSpc>
                <a:spcPct val="90000"/>
              </a:lnSpc>
              <a:buClr>
                <a:schemeClr val="dk1"/>
              </a:buClr>
              <a:buSzPts val="1600"/>
            </a:pPr>
            <a:endParaRPr lang="en-US" dirty="0"/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030FE4-F4A0-0D37-DFD4-284DC1645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4565"/>
            <a:ext cx="23596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öhne"/>
              </a:rPr>
              <a:t>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8E6665-89E4-9B05-3985-9172538C9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950" y="-94565"/>
            <a:ext cx="2271459" cy="18748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IN" dirty="0"/>
              <a:t>Working Model</a:t>
            </a:r>
            <a:endParaRPr dirty="0"/>
          </a:p>
        </p:txBody>
      </p:sp>
      <p:sp>
        <p:nvSpPr>
          <p:cNvPr id="244" name="Google Shape;244;p5"/>
          <p:cNvSpPr txBox="1">
            <a:spLocks noGrp="1"/>
          </p:cNvSpPr>
          <p:nvPr>
            <p:ph type="body" idx="2"/>
          </p:nvPr>
        </p:nvSpPr>
        <p:spPr>
          <a:xfrm>
            <a:off x="952501" y="2145662"/>
            <a:ext cx="1190932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IN" b="1" u="sng" dirty="0"/>
              <a:t>Flowchart</a:t>
            </a:r>
            <a:endParaRPr b="1" u="sng" dirty="0"/>
          </a:p>
        </p:txBody>
      </p:sp>
      <p:sp>
        <p:nvSpPr>
          <p:cNvPr id="245" name="Google Shape;245;p5"/>
          <p:cNvSpPr txBox="1">
            <a:spLocks noGrp="1"/>
          </p:cNvSpPr>
          <p:nvPr>
            <p:ph type="body" idx="1"/>
          </p:nvPr>
        </p:nvSpPr>
        <p:spPr>
          <a:xfrm>
            <a:off x="952500" y="2656903"/>
            <a:ext cx="5959578" cy="3322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dirty="0"/>
          </a:p>
        </p:txBody>
      </p:sp>
      <p:sp>
        <p:nvSpPr>
          <p:cNvPr id="246" name="Google Shape;246;p5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2" name="Content Placeholder 4" descr="A road with cars and icons&#10;&#10;Description automatically generated with medium confidence">
            <a:extLst>
              <a:ext uri="{FF2B5EF4-FFF2-40B4-BE49-F238E27FC236}">
                <a16:creationId xmlns:a16="http://schemas.microsoft.com/office/drawing/2014/main" id="{DDE6564F-72C3-4BBF-14C5-07DCC952E9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80" y="2588323"/>
            <a:ext cx="8027865" cy="3743897"/>
          </a:xfrm>
        </p:spPr>
      </p:pic>
      <p:sp>
        <p:nvSpPr>
          <p:cNvPr id="5" name="Google Shape;243;p5">
            <a:extLst>
              <a:ext uri="{FF2B5EF4-FFF2-40B4-BE49-F238E27FC236}">
                <a16:creationId xmlns:a16="http://schemas.microsoft.com/office/drawing/2014/main" id="{2B4747BA-AA2C-44A6-5BBD-36E20B8FA788}"/>
              </a:ext>
            </a:extLst>
          </p:cNvPr>
          <p:cNvSpPr txBox="1">
            <a:spLocks/>
          </p:cNvSpPr>
          <p:nvPr/>
        </p:nvSpPr>
        <p:spPr>
          <a:xfrm>
            <a:off x="8579107" y="319302"/>
            <a:ext cx="1646442" cy="28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2000" u="sng" dirty="0">
                <a:solidFill>
                  <a:schemeClr val="tx2"/>
                </a:solidFill>
              </a:rPr>
              <a:t>App Prototype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1613D0-612D-12B6-8AE0-0A59E71B35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9496" y="685014"/>
            <a:ext cx="3072476" cy="59735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/>
          <p:cNvSpPr txBox="1">
            <a:spLocks noGrp="1"/>
          </p:cNvSpPr>
          <p:nvPr>
            <p:ph type="title"/>
          </p:nvPr>
        </p:nvSpPr>
        <p:spPr>
          <a:xfrm>
            <a:off x="777210" y="1203529"/>
            <a:ext cx="661750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dirty="0"/>
              <a:t>Team Member Details </a:t>
            </a:r>
            <a:endParaRPr dirty="0"/>
          </a:p>
        </p:txBody>
      </p:sp>
      <p:sp>
        <p:nvSpPr>
          <p:cNvPr id="238" name="Google Shape;238;p4"/>
          <p:cNvSpPr txBox="1">
            <a:spLocks noGrp="1"/>
          </p:cNvSpPr>
          <p:nvPr>
            <p:ph type="body" idx="1"/>
          </p:nvPr>
        </p:nvSpPr>
        <p:spPr>
          <a:xfrm>
            <a:off x="599768" y="2133600"/>
            <a:ext cx="11224239" cy="5751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buClr>
                <a:srgbClr val="5D7C3F"/>
              </a:buClr>
              <a:buSzPts val="1200"/>
            </a:pPr>
            <a:r>
              <a:rPr lang="en-US" b="1" dirty="0">
                <a:solidFill>
                  <a:srgbClr val="5D7C3F"/>
                </a:solidFill>
              </a:rPr>
              <a:t> Leader : </a:t>
            </a:r>
            <a:r>
              <a:rPr lang="en-IN" b="1" dirty="0">
                <a:solidFill>
                  <a:srgbClr val="5D7C3F"/>
                </a:solidFill>
              </a:rPr>
              <a:t>Sneha D Nile			 </a:t>
            </a:r>
            <a:r>
              <a:rPr lang="en-US" dirty="0"/>
              <a:t>IT(3</a:t>
            </a:r>
            <a:r>
              <a:rPr lang="en-US" baseline="30000" dirty="0"/>
              <a:t>rd</a:t>
            </a:r>
            <a:r>
              <a:rPr lang="en-US" dirty="0"/>
              <a:t> year)			(</a:t>
            </a:r>
            <a:r>
              <a:rPr lang="en-US" dirty="0">
                <a:hlinkClick r:id="rId3"/>
              </a:rPr>
              <a:t>2021bit051@sggs.ac.in</a:t>
            </a:r>
            <a:r>
              <a:rPr lang="en-US" dirty="0"/>
              <a:t>)</a:t>
            </a:r>
          </a:p>
          <a:p>
            <a:pPr marL="0" indent="0">
              <a:spcBef>
                <a:spcPts val="0"/>
              </a:spcBef>
              <a:buClr>
                <a:srgbClr val="5D7C3F"/>
              </a:buClr>
              <a:buSzPts val="1200"/>
            </a:pPr>
            <a:endParaRPr lang="en-US" dirty="0"/>
          </a:p>
          <a:p>
            <a:pPr marL="0" indent="0">
              <a:buClr>
                <a:srgbClr val="5D7C3F"/>
              </a:buClr>
              <a:buSzPts val="1200"/>
            </a:pPr>
            <a:r>
              <a:rPr lang="en-US" b="1" dirty="0">
                <a:solidFill>
                  <a:srgbClr val="5D7C3F"/>
                </a:solidFill>
              </a:rPr>
              <a:t>Member 1 : </a:t>
            </a:r>
            <a:r>
              <a:rPr lang="en-IN" b="1" dirty="0">
                <a:solidFill>
                  <a:srgbClr val="5D7C3F"/>
                </a:solidFill>
              </a:rPr>
              <a:t>Ujjwal S Patil			</a:t>
            </a:r>
            <a:r>
              <a:rPr lang="en-US" dirty="0"/>
              <a:t> IT(3</a:t>
            </a:r>
            <a:r>
              <a:rPr lang="en-US" baseline="30000" dirty="0"/>
              <a:t>rd</a:t>
            </a:r>
            <a:r>
              <a:rPr lang="en-US" dirty="0"/>
              <a:t> year)			(</a:t>
            </a:r>
            <a:r>
              <a:rPr lang="en-US" dirty="0">
                <a:hlinkClick r:id="rId4"/>
              </a:rPr>
              <a:t>2021bit019@sggs.ac.in</a:t>
            </a:r>
            <a:r>
              <a:rPr lang="en-US" dirty="0"/>
              <a:t>)</a:t>
            </a:r>
          </a:p>
          <a:p>
            <a:pPr marL="0" indent="0">
              <a:buClr>
                <a:srgbClr val="5D7C3F"/>
              </a:buClr>
              <a:buSzPts val="1200"/>
            </a:pPr>
            <a:endParaRPr dirty="0"/>
          </a:p>
          <a:p>
            <a:pPr marL="0" indent="0">
              <a:buClr>
                <a:srgbClr val="5D7C3F"/>
              </a:buClr>
              <a:buSzPts val="1200"/>
            </a:pPr>
            <a:r>
              <a:rPr lang="en-US" b="1" dirty="0">
                <a:solidFill>
                  <a:srgbClr val="5D7C3F"/>
                </a:solidFill>
              </a:rPr>
              <a:t>Member 2 : Pankaj G </a:t>
            </a:r>
            <a:r>
              <a:rPr lang="en-US" b="1" dirty="0" err="1">
                <a:solidFill>
                  <a:srgbClr val="5D7C3F"/>
                </a:solidFill>
              </a:rPr>
              <a:t>Shahare</a:t>
            </a:r>
            <a:r>
              <a:rPr lang="en-US" b="1" dirty="0">
                <a:solidFill>
                  <a:srgbClr val="5D7C3F"/>
                </a:solidFill>
              </a:rPr>
              <a:t>		</a:t>
            </a:r>
            <a:r>
              <a:rPr lang="en-US" dirty="0"/>
              <a:t> IT(3</a:t>
            </a:r>
            <a:r>
              <a:rPr lang="en-US" baseline="30000" dirty="0"/>
              <a:t>rd</a:t>
            </a:r>
            <a:r>
              <a:rPr lang="en-US" dirty="0"/>
              <a:t> year)			(</a:t>
            </a:r>
            <a:r>
              <a:rPr lang="en-US" dirty="0">
                <a:hlinkClick r:id="rId5"/>
              </a:rPr>
              <a:t>2021bit058@sggs.ac.in</a:t>
            </a:r>
            <a:r>
              <a:rPr lang="en-US" dirty="0"/>
              <a:t>)</a:t>
            </a:r>
          </a:p>
          <a:p>
            <a:pPr marL="0" indent="0">
              <a:buClr>
                <a:srgbClr val="5D7C3F"/>
              </a:buClr>
              <a:buSzPts val="1200"/>
            </a:pPr>
            <a:endParaRPr lang="en-US" dirty="0"/>
          </a:p>
          <a:p>
            <a:pPr marL="0" indent="0">
              <a:buClr>
                <a:srgbClr val="5D7C3F"/>
              </a:buClr>
              <a:buSzPts val="1200"/>
            </a:pPr>
            <a:r>
              <a:rPr lang="en-US" b="1" dirty="0">
                <a:solidFill>
                  <a:srgbClr val="5D7C3F"/>
                </a:solidFill>
              </a:rPr>
              <a:t>Member 3 : Mahesh D Sawant		</a:t>
            </a:r>
            <a:r>
              <a:rPr lang="en-US" dirty="0"/>
              <a:t> IT(3</a:t>
            </a:r>
            <a:r>
              <a:rPr lang="en-US" baseline="30000" dirty="0"/>
              <a:t>rd</a:t>
            </a:r>
            <a:r>
              <a:rPr lang="en-US" dirty="0"/>
              <a:t> year)			(</a:t>
            </a:r>
            <a:r>
              <a:rPr lang="en-US" dirty="0">
                <a:hlinkClick r:id="rId6"/>
              </a:rPr>
              <a:t>2021bit043@sggs.ac.in</a:t>
            </a:r>
            <a:r>
              <a:rPr lang="en-US" dirty="0"/>
              <a:t>)</a:t>
            </a:r>
          </a:p>
          <a:p>
            <a:pPr marL="0" indent="0">
              <a:buClr>
                <a:srgbClr val="5D7C3F"/>
              </a:buClr>
              <a:buSzPts val="1200"/>
            </a:pPr>
            <a:endParaRPr lang="en-US" dirty="0"/>
          </a:p>
          <a:p>
            <a:pPr marL="0" indent="0">
              <a:buClr>
                <a:srgbClr val="5D7C3F"/>
              </a:buClr>
              <a:buSzPts val="1200"/>
            </a:pPr>
            <a:r>
              <a:rPr lang="en-US" b="1" dirty="0">
                <a:solidFill>
                  <a:srgbClr val="5D7C3F"/>
                </a:solidFill>
              </a:rPr>
              <a:t>Member 4 : Vaibhav N </a:t>
            </a:r>
            <a:r>
              <a:rPr lang="en-US" b="1" dirty="0" err="1">
                <a:solidFill>
                  <a:srgbClr val="5D7C3F"/>
                </a:solidFill>
              </a:rPr>
              <a:t>Lanjewar</a:t>
            </a:r>
            <a:r>
              <a:rPr lang="en-US" b="1" dirty="0">
                <a:solidFill>
                  <a:srgbClr val="5D7C3F"/>
                </a:solidFill>
              </a:rPr>
              <a:t>		</a:t>
            </a:r>
            <a:r>
              <a:rPr lang="en-US" dirty="0"/>
              <a:t> IT(3</a:t>
            </a:r>
            <a:r>
              <a:rPr lang="en-US" baseline="30000" dirty="0"/>
              <a:t>rd</a:t>
            </a:r>
            <a:r>
              <a:rPr lang="en-US" dirty="0"/>
              <a:t> year)			(</a:t>
            </a:r>
            <a:r>
              <a:rPr lang="en-US" dirty="0">
                <a:hlinkClick r:id="rId7"/>
              </a:rPr>
              <a:t>2021bit023@sggs.ac.in</a:t>
            </a:r>
            <a:r>
              <a:rPr lang="en-US" dirty="0"/>
              <a:t>)</a:t>
            </a:r>
          </a:p>
          <a:p>
            <a:pPr marL="0" indent="0">
              <a:buClr>
                <a:srgbClr val="5D7C3F"/>
              </a:buClr>
              <a:buSzPts val="1200"/>
            </a:pPr>
            <a:endParaRPr lang="en-US" dirty="0"/>
          </a:p>
          <a:p>
            <a:pPr marL="0" indent="0">
              <a:buClr>
                <a:srgbClr val="5D7C3F"/>
              </a:buClr>
              <a:buSzPts val="1200"/>
            </a:pPr>
            <a:r>
              <a:rPr lang="en-US" b="1" dirty="0">
                <a:solidFill>
                  <a:srgbClr val="5D7C3F"/>
                </a:solidFill>
              </a:rPr>
              <a:t>Member 5 : Rajesh Z Jadhav			</a:t>
            </a:r>
            <a:r>
              <a:rPr lang="en-IN" b="1" dirty="0">
                <a:solidFill>
                  <a:srgbClr val="5D7C3F"/>
                </a:solidFill>
              </a:rPr>
              <a:t> </a:t>
            </a:r>
            <a:r>
              <a:rPr lang="en-US" dirty="0"/>
              <a:t>IT(3</a:t>
            </a:r>
            <a:r>
              <a:rPr lang="en-US" baseline="30000" dirty="0"/>
              <a:t>rd</a:t>
            </a:r>
            <a:r>
              <a:rPr lang="en-US" dirty="0"/>
              <a:t> year)			(</a:t>
            </a:r>
            <a:r>
              <a:rPr lang="en-US" dirty="0">
                <a:hlinkClick r:id="rId8"/>
              </a:rPr>
              <a:t>2021bit057@sggs.ac.in</a:t>
            </a:r>
            <a:r>
              <a:rPr lang="en-US" dirty="0"/>
              <a:t>)</a:t>
            </a:r>
          </a:p>
          <a:p>
            <a:pPr marL="0" indent="0">
              <a:buClr>
                <a:srgbClr val="5D7C3F"/>
              </a:buClr>
              <a:buSzPts val="1200"/>
            </a:pPr>
            <a:endParaRPr lang="en-US" dirty="0"/>
          </a:p>
          <a:p>
            <a:pPr marL="0" indent="0">
              <a:buClr>
                <a:srgbClr val="5D7C3F"/>
              </a:buClr>
              <a:buSzPts val="1200"/>
            </a:pPr>
            <a:r>
              <a:rPr lang="en-US" sz="1600" b="1" dirty="0">
                <a:solidFill>
                  <a:srgbClr val="804160"/>
                </a:solidFill>
              </a:rPr>
              <a:t>Team Mentor  : </a:t>
            </a:r>
            <a:r>
              <a:rPr lang="en-IN" sz="1600" b="1" dirty="0" err="1">
                <a:solidFill>
                  <a:schemeClr val="accent4">
                    <a:lumMod val="75000"/>
                  </a:schemeClr>
                </a:solidFill>
              </a:rPr>
              <a:t>Dr.</a:t>
            </a:r>
            <a:r>
              <a:rPr lang="en-IN" sz="1600" b="1" dirty="0">
                <a:solidFill>
                  <a:schemeClr val="accent4">
                    <a:lumMod val="75000"/>
                  </a:schemeClr>
                </a:solidFill>
              </a:rPr>
              <a:t> Megha V. </a:t>
            </a:r>
            <a:r>
              <a:rPr lang="en-IN" sz="1600" b="1" dirty="0" err="1">
                <a:solidFill>
                  <a:schemeClr val="accent4">
                    <a:lumMod val="75000"/>
                  </a:schemeClr>
                </a:solidFill>
              </a:rPr>
              <a:t>Jonnalagedda</a:t>
            </a:r>
            <a:endParaRPr lang="en-IN" sz="1600" b="1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Clr>
                <a:srgbClr val="5D7C3F"/>
              </a:buClr>
              <a:buSzPts val="1200"/>
            </a:pPr>
            <a:r>
              <a:rPr lang="en-US" sz="1600" b="1" dirty="0">
                <a:solidFill>
                  <a:srgbClr val="804160"/>
                </a:solidFill>
              </a:rPr>
              <a:t> </a:t>
            </a:r>
            <a:endParaRPr lang="en-US" dirty="0"/>
          </a:p>
          <a:p>
            <a:pPr marL="0" indent="0">
              <a:buClr>
                <a:srgbClr val="5D7C3F"/>
              </a:buClr>
              <a:buSzPts val="1200"/>
            </a:pPr>
            <a:endParaRPr lang="en-US" dirty="0"/>
          </a:p>
          <a:p>
            <a:pPr marL="0" indent="0">
              <a:buClr>
                <a:srgbClr val="5D7C3F"/>
              </a:buClr>
              <a:buSzPts val="1200"/>
            </a:pP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042A31-F380-69A4-4166-60A62D3871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86950" y="-94565"/>
            <a:ext cx="2271459" cy="18748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600</Words>
  <Application>Microsoft Office PowerPoint</Application>
  <PresentationFormat>Widescreen</PresentationFormat>
  <Paragraphs>72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Franklin Gothic</vt:lpstr>
      <vt:lpstr>Libre Franklin</vt:lpstr>
      <vt:lpstr>Noto Sans Symbols</vt:lpstr>
      <vt:lpstr>Söhne</vt:lpstr>
      <vt:lpstr>Wingdings</vt:lpstr>
      <vt:lpstr>Theme1</vt:lpstr>
      <vt:lpstr>Problem Statement</vt:lpstr>
      <vt:lpstr>Idea/Approach Details</vt:lpstr>
      <vt:lpstr>Idea/Approach Details</vt:lpstr>
      <vt:lpstr>Working Model</vt:lpstr>
      <vt:lpstr>Team Member Details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</dc:title>
  <dc:creator>ADMIN</dc:creator>
  <cp:lastModifiedBy>Pankaj Shahare</cp:lastModifiedBy>
  <cp:revision>6</cp:revision>
  <dcterms:modified xsi:type="dcterms:W3CDTF">2023-09-23T04:31:45Z</dcterms:modified>
</cp:coreProperties>
</file>